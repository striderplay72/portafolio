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Sunborn" charset="1" panose="00000500000000000000"/>
      <p:regular r:id="rId26"/>
    </p:embeddedFont>
    <p:embeddedFont>
      <p:font typeface="Now Bold" charset="1" panose="00000800000000000000"/>
      <p:regular r:id="rId27"/>
    </p:embeddedFont>
    <p:embeddedFont>
      <p:font typeface="Now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85891" y="-4466310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028700" y="952267"/>
            <a:ext cx="16230600" cy="8382465"/>
            <a:chOff x="0" y="0"/>
            <a:chExt cx="21640800" cy="1117662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640800" cy="11176620"/>
              <a:chOff x="0" y="0"/>
              <a:chExt cx="6045684" cy="312235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045684" cy="3122357"/>
              </a:xfrm>
              <a:custGeom>
                <a:avLst/>
                <a:gdLst/>
                <a:ahLst/>
                <a:cxnLst/>
                <a:rect r="r" b="b" t="t" l="l"/>
                <a:pathLst>
                  <a:path h="3122357" w="6045684">
                    <a:moveTo>
                      <a:pt x="0" y="0"/>
                    </a:moveTo>
                    <a:lnTo>
                      <a:pt x="6045684" y="0"/>
                    </a:lnTo>
                    <a:lnTo>
                      <a:pt x="6045684" y="3122357"/>
                    </a:lnTo>
                    <a:lnTo>
                      <a:pt x="0" y="3122357"/>
                    </a:lnTo>
                    <a:close/>
                  </a:path>
                </a:pathLst>
              </a:custGeom>
              <a:ln w="66675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045684" cy="312235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86675" y="84130"/>
              <a:ext cx="21473212" cy="11010900"/>
              <a:chOff x="0" y="0"/>
              <a:chExt cx="5998866" cy="307606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998866" cy="3076061"/>
              </a:xfrm>
              <a:custGeom>
                <a:avLst/>
                <a:gdLst/>
                <a:ahLst/>
                <a:cxnLst/>
                <a:rect r="r" b="b" t="t" l="l"/>
                <a:pathLst>
                  <a:path h="3076061" w="5998866">
                    <a:moveTo>
                      <a:pt x="0" y="0"/>
                    </a:moveTo>
                    <a:lnTo>
                      <a:pt x="5998866" y="0"/>
                    </a:lnTo>
                    <a:lnTo>
                      <a:pt x="5998866" y="3076061"/>
                    </a:lnTo>
                    <a:lnTo>
                      <a:pt x="0" y="3076061"/>
                    </a:lnTo>
                    <a:close/>
                  </a:path>
                </a:pathLst>
              </a:custGeom>
              <a:ln w="66675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5998866" cy="3076061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2975987">
            <a:off x="14545116" y="2070003"/>
            <a:ext cx="8772466" cy="5917913"/>
            <a:chOff x="0" y="0"/>
            <a:chExt cx="2310444" cy="15586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0444" cy="1558627"/>
            </a:xfrm>
            <a:custGeom>
              <a:avLst/>
              <a:gdLst/>
              <a:ahLst/>
              <a:cxnLst/>
              <a:rect r="r" b="b" t="t" l="l"/>
              <a:pathLst>
                <a:path h="1558627" w="2310444">
                  <a:moveTo>
                    <a:pt x="0" y="0"/>
                  </a:moveTo>
                  <a:lnTo>
                    <a:pt x="2310444" y="0"/>
                  </a:lnTo>
                  <a:lnTo>
                    <a:pt x="2310444" y="1558627"/>
                  </a:lnTo>
                  <a:lnTo>
                    <a:pt x="0" y="1558627"/>
                  </a:ln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310444" cy="1558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2975987">
            <a:off x="13720090" y="5810363"/>
            <a:ext cx="4998259" cy="9716463"/>
            <a:chOff x="0" y="0"/>
            <a:chExt cx="1316414" cy="25590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414" cy="2559068"/>
            </a:xfrm>
            <a:custGeom>
              <a:avLst/>
              <a:gdLst/>
              <a:ahLst/>
              <a:cxnLst/>
              <a:rect r="r" b="b" t="t" l="l"/>
              <a:pathLst>
                <a:path h="2559068" w="1316414">
                  <a:moveTo>
                    <a:pt x="0" y="0"/>
                  </a:moveTo>
                  <a:lnTo>
                    <a:pt x="1316414" y="0"/>
                  </a:lnTo>
                  <a:lnTo>
                    <a:pt x="1316414" y="2559068"/>
                  </a:lnTo>
                  <a:lnTo>
                    <a:pt x="0" y="2559068"/>
                  </a:lnTo>
                  <a:close/>
                </a:path>
              </a:pathLst>
            </a:custGeom>
            <a:solidFill>
              <a:srgbClr val="FABF9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316414" cy="2559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2700000">
            <a:off x="9977307" y="8406949"/>
            <a:ext cx="5978251" cy="3228389"/>
            <a:chOff x="0" y="0"/>
            <a:chExt cx="1574519" cy="850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74519" cy="850275"/>
            </a:xfrm>
            <a:custGeom>
              <a:avLst/>
              <a:gdLst/>
              <a:ahLst/>
              <a:cxnLst/>
              <a:rect r="r" b="b" t="t" l="l"/>
              <a:pathLst>
                <a:path h="850275" w="1574519">
                  <a:moveTo>
                    <a:pt x="0" y="0"/>
                  </a:moveTo>
                  <a:lnTo>
                    <a:pt x="1574519" y="0"/>
                  </a:lnTo>
                  <a:lnTo>
                    <a:pt x="1574519" y="850275"/>
                  </a:lnTo>
                  <a:lnTo>
                    <a:pt x="0" y="850275"/>
                  </a:lnTo>
                  <a:close/>
                </a:path>
              </a:pathLst>
            </a:custGeom>
            <a:solidFill>
              <a:srgbClr val="FFD6B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574519" cy="850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2700000">
            <a:off x="10772644" y="8408147"/>
            <a:ext cx="5813827" cy="5128956"/>
            <a:chOff x="0" y="0"/>
            <a:chExt cx="1531214" cy="13508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31214" cy="1350836"/>
            </a:xfrm>
            <a:custGeom>
              <a:avLst/>
              <a:gdLst/>
              <a:ahLst/>
              <a:cxnLst/>
              <a:rect r="r" b="b" t="t" l="l"/>
              <a:pathLst>
                <a:path h="1350836" w="1531214">
                  <a:moveTo>
                    <a:pt x="0" y="0"/>
                  </a:moveTo>
                  <a:lnTo>
                    <a:pt x="1531214" y="0"/>
                  </a:lnTo>
                  <a:lnTo>
                    <a:pt x="1531214" y="1350836"/>
                  </a:lnTo>
                  <a:lnTo>
                    <a:pt x="0" y="1350836"/>
                  </a:lnTo>
                  <a:close/>
                </a:path>
              </a:pathLst>
            </a:custGeom>
            <a:solidFill>
              <a:srgbClr val="B2ED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531214" cy="135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2975987">
            <a:off x="18542141" y="3601886"/>
            <a:ext cx="8772466" cy="5917913"/>
            <a:chOff x="0" y="0"/>
            <a:chExt cx="2310444" cy="15586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0444" cy="1558627"/>
            </a:xfrm>
            <a:custGeom>
              <a:avLst/>
              <a:gdLst/>
              <a:ahLst/>
              <a:cxnLst/>
              <a:rect r="r" b="b" t="t" l="l"/>
              <a:pathLst>
                <a:path h="1558627" w="2310444">
                  <a:moveTo>
                    <a:pt x="0" y="0"/>
                  </a:moveTo>
                  <a:lnTo>
                    <a:pt x="2310444" y="0"/>
                  </a:lnTo>
                  <a:lnTo>
                    <a:pt x="2310444" y="1558627"/>
                  </a:lnTo>
                  <a:lnTo>
                    <a:pt x="0" y="1558627"/>
                  </a:lnTo>
                  <a:close/>
                </a:path>
              </a:pathLst>
            </a:custGeom>
            <a:solidFill>
              <a:srgbClr val="31A0C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310444" cy="1558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 flipV="true">
            <a:off x="13537255" y="414250"/>
            <a:ext cx="5363927" cy="4686212"/>
          </a:xfrm>
          <a:prstGeom prst="line">
            <a:avLst/>
          </a:prstGeom>
          <a:ln cap="flat" w="114300">
            <a:solidFill>
              <a:srgbClr val="31A0C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14099046" y="3997696"/>
            <a:ext cx="1321049" cy="1101918"/>
          </a:xfrm>
          <a:prstGeom prst="line">
            <a:avLst/>
          </a:prstGeom>
          <a:ln cap="flat" w="114300">
            <a:solidFill>
              <a:srgbClr val="31A0C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9875894" y="6916203"/>
            <a:ext cx="4923047" cy="5147417"/>
          </a:xfrm>
          <a:prstGeom prst="line">
            <a:avLst/>
          </a:prstGeom>
          <a:ln cap="flat" w="114300">
            <a:solidFill>
              <a:srgbClr val="31A0C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3490832" y="7760524"/>
            <a:ext cx="1216428" cy="1216428"/>
          </a:xfrm>
          <a:prstGeom prst="line">
            <a:avLst/>
          </a:prstGeom>
          <a:ln cap="flat" w="114300">
            <a:solidFill>
              <a:srgbClr val="31A0C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65173" y="1302801"/>
            <a:ext cx="1614832" cy="1641130"/>
            <a:chOff x="0" y="0"/>
            <a:chExt cx="2153110" cy="218817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782020" y="3149778"/>
            <a:ext cx="1066290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Proceso de</a:t>
            </a:r>
          </a:p>
        </p:txBody>
      </p:sp>
      <p:sp>
        <p:nvSpPr>
          <p:cNvPr name="AutoShape 48" id="48"/>
          <p:cNvSpPr/>
          <p:nvPr/>
        </p:nvSpPr>
        <p:spPr>
          <a:xfrm>
            <a:off x="5515204" y="4679781"/>
            <a:ext cx="4712341" cy="0"/>
          </a:xfrm>
          <a:prstGeom prst="line">
            <a:avLst/>
          </a:prstGeom>
          <a:ln cap="flat" w="114300">
            <a:solidFill>
              <a:srgbClr val="F587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0827090" y="6367010"/>
            <a:ext cx="2265707" cy="0"/>
          </a:xfrm>
          <a:prstGeom prst="line">
            <a:avLst/>
          </a:prstGeom>
          <a:ln cap="flat" w="114300">
            <a:solidFill>
              <a:srgbClr val="F587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535400" y="8137181"/>
            <a:ext cx="3260484" cy="839771"/>
            <a:chOff x="0" y="0"/>
            <a:chExt cx="858728" cy="2211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8728" cy="221174"/>
            </a:xfrm>
            <a:custGeom>
              <a:avLst/>
              <a:gdLst/>
              <a:ahLst/>
              <a:cxnLst/>
              <a:rect r="r" b="b" t="t" l="l"/>
              <a:pathLst>
                <a:path h="221174" w="858728">
                  <a:moveTo>
                    <a:pt x="42740" y="0"/>
                  </a:moveTo>
                  <a:lnTo>
                    <a:pt x="815988" y="0"/>
                  </a:lnTo>
                  <a:cubicBezTo>
                    <a:pt x="839593" y="0"/>
                    <a:pt x="858728" y="19136"/>
                    <a:pt x="858728" y="42740"/>
                  </a:cubicBezTo>
                  <a:lnTo>
                    <a:pt x="858728" y="178434"/>
                  </a:lnTo>
                  <a:cubicBezTo>
                    <a:pt x="858728" y="202039"/>
                    <a:pt x="839593" y="221174"/>
                    <a:pt x="815988" y="221174"/>
                  </a:cubicBezTo>
                  <a:lnTo>
                    <a:pt x="42740" y="221174"/>
                  </a:lnTo>
                  <a:cubicBezTo>
                    <a:pt x="19136" y="221174"/>
                    <a:pt x="0" y="202039"/>
                    <a:pt x="0" y="178434"/>
                  </a:cubicBezTo>
                  <a:lnTo>
                    <a:pt x="0" y="42740"/>
                  </a:lnTo>
                  <a:cubicBezTo>
                    <a:pt x="0" y="19136"/>
                    <a:pt x="19136" y="0"/>
                    <a:pt x="42740" y="0"/>
                  </a:cubicBezTo>
                  <a:close/>
                </a:path>
              </a:pathLst>
            </a:custGeom>
            <a:solidFill>
              <a:srgbClr val="FABF9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858728" cy="221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72045" y="4670256"/>
            <a:ext cx="10537265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marketing y redes sociales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19645" y="8194481"/>
            <a:ext cx="2793296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Presentado por: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72045" y="8573290"/>
            <a:ext cx="339677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Jhordan Flores Tirado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08743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56026" y="8384136"/>
            <a:ext cx="10575948" cy="1354035"/>
            <a:chOff x="0" y="0"/>
            <a:chExt cx="3032038" cy="3881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2038" cy="388191"/>
            </a:xfrm>
            <a:custGeom>
              <a:avLst/>
              <a:gdLst/>
              <a:ahLst/>
              <a:cxnLst/>
              <a:rect r="r" b="b" t="t" l="l"/>
              <a:pathLst>
                <a:path h="388191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69890"/>
                  </a:lnTo>
                  <a:cubicBezTo>
                    <a:pt x="3032038" y="379997"/>
                    <a:pt x="3023845" y="388191"/>
                    <a:pt x="3013737" y="388191"/>
                  </a:cubicBezTo>
                  <a:lnTo>
                    <a:pt x="18301" y="388191"/>
                  </a:lnTo>
                  <a:cubicBezTo>
                    <a:pt x="8194" y="388191"/>
                    <a:pt x="0" y="379997"/>
                    <a:pt x="0" y="369890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2038" cy="41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10479" y="3620965"/>
            <a:ext cx="5760535" cy="3607337"/>
            <a:chOff x="0" y="0"/>
            <a:chExt cx="2027926" cy="12699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27925" cy="1269919"/>
            </a:xfrm>
            <a:custGeom>
              <a:avLst/>
              <a:gdLst/>
              <a:ahLst/>
              <a:cxnLst/>
              <a:rect r="r" b="b" t="t" l="l"/>
              <a:pathLst>
                <a:path h="1269919" w="2027925">
                  <a:moveTo>
                    <a:pt x="33599" y="0"/>
                  </a:moveTo>
                  <a:lnTo>
                    <a:pt x="1994327" y="0"/>
                  </a:lnTo>
                  <a:cubicBezTo>
                    <a:pt x="2012883" y="0"/>
                    <a:pt x="2027925" y="15043"/>
                    <a:pt x="2027925" y="33599"/>
                  </a:cubicBezTo>
                  <a:lnTo>
                    <a:pt x="2027925" y="1236320"/>
                  </a:lnTo>
                  <a:cubicBezTo>
                    <a:pt x="2027925" y="1245231"/>
                    <a:pt x="2024386" y="1253777"/>
                    <a:pt x="2018085" y="1260078"/>
                  </a:cubicBezTo>
                  <a:cubicBezTo>
                    <a:pt x="2011784" y="1266379"/>
                    <a:pt x="2003237" y="1269919"/>
                    <a:pt x="1994327" y="1269919"/>
                  </a:cubicBezTo>
                  <a:lnTo>
                    <a:pt x="33599" y="1269919"/>
                  </a:lnTo>
                  <a:cubicBezTo>
                    <a:pt x="15043" y="1269919"/>
                    <a:pt x="0" y="1254876"/>
                    <a:pt x="0" y="1236320"/>
                  </a:cubicBezTo>
                  <a:lnTo>
                    <a:pt x="0" y="33599"/>
                  </a:lnTo>
                  <a:cubicBezTo>
                    <a:pt x="0" y="15043"/>
                    <a:pt x="15043" y="0"/>
                    <a:pt x="33599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27926" cy="129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302765" y="3738944"/>
            <a:ext cx="5925125" cy="3656965"/>
            <a:chOff x="0" y="0"/>
            <a:chExt cx="2095518" cy="12933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95518" cy="1293346"/>
            </a:xfrm>
            <a:custGeom>
              <a:avLst/>
              <a:gdLst/>
              <a:ahLst/>
              <a:cxnLst/>
              <a:rect r="r" b="b" t="t" l="l"/>
              <a:pathLst>
                <a:path h="1293346" w="2095518">
                  <a:moveTo>
                    <a:pt x="22213" y="0"/>
                  </a:moveTo>
                  <a:lnTo>
                    <a:pt x="2073305" y="0"/>
                  </a:lnTo>
                  <a:cubicBezTo>
                    <a:pt x="2079196" y="0"/>
                    <a:pt x="2084846" y="2340"/>
                    <a:pt x="2089012" y="6506"/>
                  </a:cubicBezTo>
                  <a:cubicBezTo>
                    <a:pt x="2093178" y="10672"/>
                    <a:pt x="2095518" y="16321"/>
                    <a:pt x="2095518" y="22213"/>
                  </a:cubicBezTo>
                  <a:lnTo>
                    <a:pt x="2095518" y="1271133"/>
                  </a:lnTo>
                  <a:cubicBezTo>
                    <a:pt x="2095518" y="1283401"/>
                    <a:pt x="2085573" y="1293346"/>
                    <a:pt x="2073305" y="1293346"/>
                  </a:cubicBezTo>
                  <a:lnTo>
                    <a:pt x="22213" y="1293346"/>
                  </a:lnTo>
                  <a:cubicBezTo>
                    <a:pt x="9945" y="1293346"/>
                    <a:pt x="0" y="1283401"/>
                    <a:pt x="0" y="1271133"/>
                  </a:cubicBezTo>
                  <a:lnTo>
                    <a:pt x="0" y="22213"/>
                  </a:lnTo>
                  <a:cubicBezTo>
                    <a:pt x="0" y="9945"/>
                    <a:pt x="9945" y="0"/>
                    <a:pt x="2221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406" r="0" b="-1140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028700" y="996866"/>
            <a:ext cx="15320713" cy="92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03"/>
              </a:lnSpc>
              <a:spcBef>
                <a:spcPct val="0"/>
              </a:spcBef>
            </a:pPr>
            <a:r>
              <a:rPr lang="en-US" sz="535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planificacion y enfoque del contenido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1era Fase: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9010"/>
            <a:ext cx="8081553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 Inicio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de la planificacion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99160" y="3710369"/>
            <a:ext cx="4635653" cy="128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847" indent="-280924" lvl="1">
              <a:lnSpc>
                <a:spcPts val="3383"/>
              </a:lnSpc>
              <a:buFont typeface="Arial"/>
              <a:buChar char="•"/>
            </a:pPr>
            <a:r>
              <a:rPr lang="en-US" b="true" sz="2602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Identificación de la necesidad de comunicación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99160" y="5315439"/>
            <a:ext cx="4520251" cy="85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638" indent="-284819" lvl="1">
              <a:lnSpc>
                <a:spcPts val="3429"/>
              </a:lnSpc>
              <a:buFont typeface="Arial"/>
              <a:buChar char="•"/>
            </a:pPr>
            <a:r>
              <a:rPr lang="en-US" b="true" sz="2638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Definición del enfoque del contenido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16986" y="8638878"/>
            <a:ext cx="10454028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Esta etapa permite definir el enfoque general del contenido</a:t>
            </a:r>
          </a:p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antes de su desarrollo y publicación.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99160" y="6491426"/>
            <a:ext cx="4520251" cy="128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638" indent="-284819" lvl="1">
              <a:lnSpc>
                <a:spcPts val="3429"/>
              </a:lnSpc>
              <a:buFont typeface="Arial"/>
              <a:buChar char="•"/>
            </a:pPr>
            <a:r>
              <a:rPr lang="en-US" b="true" sz="2638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Determinación del servicio o campaña a comunicar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27147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98078" y="3730115"/>
            <a:ext cx="6202494" cy="2615308"/>
            <a:chOff x="0" y="0"/>
            <a:chExt cx="2459873" cy="1037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59873" cy="1037216"/>
            </a:xfrm>
            <a:custGeom>
              <a:avLst/>
              <a:gdLst/>
              <a:ahLst/>
              <a:cxnLst/>
              <a:rect r="r" b="b" t="t" l="l"/>
              <a:pathLst>
                <a:path h="1037216" w="2459873">
                  <a:moveTo>
                    <a:pt x="31205" y="0"/>
                  </a:moveTo>
                  <a:lnTo>
                    <a:pt x="2428668" y="0"/>
                  </a:lnTo>
                  <a:cubicBezTo>
                    <a:pt x="2445902" y="0"/>
                    <a:pt x="2459873" y="13971"/>
                    <a:pt x="2459873" y="31205"/>
                  </a:cubicBezTo>
                  <a:lnTo>
                    <a:pt x="2459873" y="1006011"/>
                  </a:lnTo>
                  <a:cubicBezTo>
                    <a:pt x="2459873" y="1023245"/>
                    <a:pt x="2445902" y="1037216"/>
                    <a:pt x="2428668" y="1037216"/>
                  </a:cubicBezTo>
                  <a:lnTo>
                    <a:pt x="31205" y="1037216"/>
                  </a:lnTo>
                  <a:cubicBezTo>
                    <a:pt x="13971" y="1037216"/>
                    <a:pt x="0" y="1023245"/>
                    <a:pt x="0" y="1006011"/>
                  </a:cubicBezTo>
                  <a:lnTo>
                    <a:pt x="0" y="31205"/>
                  </a:lnTo>
                  <a:cubicBezTo>
                    <a:pt x="0" y="13971"/>
                    <a:pt x="13971" y="0"/>
                    <a:pt x="31205" y="0"/>
                  </a:cubicBezTo>
                  <a:close/>
                </a:path>
              </a:pathLst>
            </a:custGeom>
            <a:solidFill>
              <a:srgbClr val="FABF9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459873" cy="1065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46741" y="3890243"/>
            <a:ext cx="6336450" cy="2731406"/>
            <a:chOff x="0" y="0"/>
            <a:chExt cx="4904878" cy="2114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04878" cy="2114309"/>
            </a:xfrm>
            <a:custGeom>
              <a:avLst/>
              <a:gdLst/>
              <a:ahLst/>
              <a:cxnLst/>
              <a:rect r="r" b="b" t="t" l="l"/>
              <a:pathLst>
                <a:path h="2114309" w="4904878">
                  <a:moveTo>
                    <a:pt x="20771" y="0"/>
                  </a:moveTo>
                  <a:lnTo>
                    <a:pt x="4884107" y="0"/>
                  </a:lnTo>
                  <a:cubicBezTo>
                    <a:pt x="4895578" y="0"/>
                    <a:pt x="4904878" y="9299"/>
                    <a:pt x="4904878" y="20771"/>
                  </a:cubicBezTo>
                  <a:lnTo>
                    <a:pt x="4904878" y="2093538"/>
                  </a:lnTo>
                  <a:cubicBezTo>
                    <a:pt x="4904878" y="2105009"/>
                    <a:pt x="4895578" y="2114309"/>
                    <a:pt x="4884107" y="2114309"/>
                  </a:cubicBezTo>
                  <a:lnTo>
                    <a:pt x="20771" y="2114309"/>
                  </a:lnTo>
                  <a:cubicBezTo>
                    <a:pt x="9299" y="2114309"/>
                    <a:pt x="0" y="2105009"/>
                    <a:pt x="0" y="2093538"/>
                  </a:cubicBezTo>
                  <a:lnTo>
                    <a:pt x="0" y="20771"/>
                  </a:lnTo>
                  <a:cubicBezTo>
                    <a:pt x="0" y="9299"/>
                    <a:pt x="9299" y="0"/>
                    <a:pt x="2077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85" r="0" b="-48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669634" y="8390373"/>
            <a:ext cx="8948733" cy="1354035"/>
            <a:chOff x="0" y="0"/>
            <a:chExt cx="2565529" cy="3881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5529" cy="388191"/>
            </a:xfrm>
            <a:custGeom>
              <a:avLst/>
              <a:gdLst/>
              <a:ahLst/>
              <a:cxnLst/>
              <a:rect r="r" b="b" t="t" l="l"/>
              <a:pathLst>
                <a:path h="388191" w="2565529">
                  <a:moveTo>
                    <a:pt x="21629" y="0"/>
                  </a:moveTo>
                  <a:lnTo>
                    <a:pt x="2543900" y="0"/>
                  </a:lnTo>
                  <a:cubicBezTo>
                    <a:pt x="2555845" y="0"/>
                    <a:pt x="2565529" y="9683"/>
                    <a:pt x="2565529" y="21629"/>
                  </a:cubicBezTo>
                  <a:lnTo>
                    <a:pt x="2565529" y="366562"/>
                  </a:lnTo>
                  <a:cubicBezTo>
                    <a:pt x="2565529" y="372299"/>
                    <a:pt x="2563250" y="377800"/>
                    <a:pt x="2559194" y="381856"/>
                  </a:cubicBezTo>
                  <a:cubicBezTo>
                    <a:pt x="2555138" y="385912"/>
                    <a:pt x="2549637" y="388191"/>
                    <a:pt x="2543900" y="388191"/>
                  </a:cubicBezTo>
                  <a:lnTo>
                    <a:pt x="21629" y="388191"/>
                  </a:lnTo>
                  <a:cubicBezTo>
                    <a:pt x="15892" y="388191"/>
                    <a:pt x="10391" y="385912"/>
                    <a:pt x="6335" y="381856"/>
                  </a:cubicBezTo>
                  <a:cubicBezTo>
                    <a:pt x="2279" y="377800"/>
                    <a:pt x="0" y="372299"/>
                    <a:pt x="0" y="366562"/>
                  </a:cubicBezTo>
                  <a:lnTo>
                    <a:pt x="0" y="21629"/>
                  </a:lnTo>
                  <a:cubicBezTo>
                    <a:pt x="0" y="15892"/>
                    <a:pt x="2279" y="10391"/>
                    <a:pt x="6335" y="6335"/>
                  </a:cubicBezTo>
                  <a:cubicBezTo>
                    <a:pt x="10391" y="2279"/>
                    <a:pt x="15892" y="0"/>
                    <a:pt x="2162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565529" cy="41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1era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2518535"/>
            <a:ext cx="930393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600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OBJETIVOS DE</a:t>
            </a:r>
            <a:r>
              <a:rPr lang="en-US" b="true" sz="3600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COMUNICACIÓN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4925" y="3494719"/>
            <a:ext cx="80141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Los objetivos pueden estar orientados a: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6640" y="4383274"/>
            <a:ext cx="8714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Informar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6640" y="5116699"/>
            <a:ext cx="8714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Educar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6640" y="5850124"/>
            <a:ext cx="71944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Promocionar servicios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57522" y="8440328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Los objetivos definidos sirven como guía para el desarrollo del contenido y la</a:t>
            </a:r>
          </a:p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selección de las plataformas digitales.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996866"/>
            <a:ext cx="15320713" cy="92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03"/>
              </a:lnSpc>
              <a:spcBef>
                <a:spcPct val="0"/>
              </a:spcBef>
            </a:pPr>
            <a:r>
              <a:rPr lang="en-US" sz="535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planificacion y enfoque del contenido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6640" y="6583549"/>
            <a:ext cx="71944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Reforzar la presencia digital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0" y="-38446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142272" y="2547110"/>
            <a:ext cx="5414516" cy="5098410"/>
            <a:chOff x="0" y="0"/>
            <a:chExt cx="2204726" cy="20760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4726" cy="2076012"/>
            </a:xfrm>
            <a:custGeom>
              <a:avLst/>
              <a:gdLst/>
              <a:ahLst/>
              <a:cxnLst/>
              <a:rect r="r" b="b" t="t" l="l"/>
              <a:pathLst>
                <a:path h="2076012" w="2204726">
                  <a:moveTo>
                    <a:pt x="35746" y="0"/>
                  </a:moveTo>
                  <a:lnTo>
                    <a:pt x="2168980" y="0"/>
                  </a:lnTo>
                  <a:cubicBezTo>
                    <a:pt x="2188722" y="0"/>
                    <a:pt x="2204726" y="16004"/>
                    <a:pt x="2204726" y="35746"/>
                  </a:cubicBezTo>
                  <a:lnTo>
                    <a:pt x="2204726" y="2040266"/>
                  </a:lnTo>
                  <a:cubicBezTo>
                    <a:pt x="2204726" y="2060008"/>
                    <a:pt x="2188722" y="2076012"/>
                    <a:pt x="2168980" y="2076012"/>
                  </a:cubicBezTo>
                  <a:lnTo>
                    <a:pt x="35746" y="2076012"/>
                  </a:lnTo>
                  <a:cubicBezTo>
                    <a:pt x="16004" y="2076012"/>
                    <a:pt x="0" y="2060008"/>
                    <a:pt x="0" y="2040266"/>
                  </a:cubicBezTo>
                  <a:lnTo>
                    <a:pt x="0" y="35746"/>
                  </a:lnTo>
                  <a:cubicBezTo>
                    <a:pt x="0" y="16004"/>
                    <a:pt x="16004" y="0"/>
                    <a:pt x="35746" y="0"/>
                  </a:cubicBezTo>
                  <a:close/>
                </a:path>
              </a:pathLst>
            </a:custGeom>
            <a:solidFill>
              <a:srgbClr val="FABF9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204726" cy="210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53041" y="2713856"/>
            <a:ext cx="5569220" cy="5168551"/>
            <a:chOff x="0" y="0"/>
            <a:chExt cx="2278211" cy="2114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8212" cy="2114309"/>
            </a:xfrm>
            <a:custGeom>
              <a:avLst/>
              <a:gdLst/>
              <a:ahLst/>
              <a:cxnLst/>
              <a:rect r="r" b="b" t="t" l="l"/>
              <a:pathLst>
                <a:path h="2114309" w="2278212">
                  <a:moveTo>
                    <a:pt x="23632" y="0"/>
                  </a:moveTo>
                  <a:lnTo>
                    <a:pt x="2254579" y="0"/>
                  </a:lnTo>
                  <a:cubicBezTo>
                    <a:pt x="2267631" y="0"/>
                    <a:pt x="2278212" y="10580"/>
                    <a:pt x="2278212" y="23632"/>
                  </a:cubicBezTo>
                  <a:lnTo>
                    <a:pt x="2278212" y="2090677"/>
                  </a:lnTo>
                  <a:cubicBezTo>
                    <a:pt x="2278212" y="2103728"/>
                    <a:pt x="2267631" y="2114309"/>
                    <a:pt x="2254579" y="2114309"/>
                  </a:cubicBezTo>
                  <a:lnTo>
                    <a:pt x="23632" y="2114309"/>
                  </a:lnTo>
                  <a:cubicBezTo>
                    <a:pt x="10580" y="2114309"/>
                    <a:pt x="0" y="2103728"/>
                    <a:pt x="0" y="2090677"/>
                  </a:cubicBezTo>
                  <a:lnTo>
                    <a:pt x="0" y="23632"/>
                  </a:lnTo>
                  <a:cubicBezTo>
                    <a:pt x="0" y="10580"/>
                    <a:pt x="10580" y="0"/>
                    <a:pt x="236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76" r="0" b="-387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154409" y="8368181"/>
            <a:ext cx="9948207" cy="1376226"/>
            <a:chOff x="0" y="0"/>
            <a:chExt cx="2852070" cy="3945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52070" cy="394553"/>
            </a:xfrm>
            <a:custGeom>
              <a:avLst/>
              <a:gdLst/>
              <a:ahLst/>
              <a:cxnLst/>
              <a:rect r="r" b="b" t="t" l="l"/>
              <a:pathLst>
                <a:path h="394553" w="2852070">
                  <a:moveTo>
                    <a:pt x="19456" y="0"/>
                  </a:moveTo>
                  <a:lnTo>
                    <a:pt x="2832615" y="0"/>
                  </a:lnTo>
                  <a:cubicBezTo>
                    <a:pt x="2837774" y="0"/>
                    <a:pt x="2842723" y="2050"/>
                    <a:pt x="2846372" y="5698"/>
                  </a:cubicBezTo>
                  <a:cubicBezTo>
                    <a:pt x="2850020" y="9347"/>
                    <a:pt x="2852070" y="14296"/>
                    <a:pt x="2852070" y="19456"/>
                  </a:cubicBezTo>
                  <a:lnTo>
                    <a:pt x="2852070" y="375097"/>
                  </a:lnTo>
                  <a:cubicBezTo>
                    <a:pt x="2852070" y="380257"/>
                    <a:pt x="2850020" y="385206"/>
                    <a:pt x="2846372" y="388854"/>
                  </a:cubicBezTo>
                  <a:cubicBezTo>
                    <a:pt x="2842723" y="392503"/>
                    <a:pt x="2837774" y="394553"/>
                    <a:pt x="2832615" y="394553"/>
                  </a:cubicBezTo>
                  <a:lnTo>
                    <a:pt x="19456" y="394553"/>
                  </a:lnTo>
                  <a:cubicBezTo>
                    <a:pt x="14296" y="394553"/>
                    <a:pt x="9347" y="392503"/>
                    <a:pt x="5698" y="388854"/>
                  </a:cubicBezTo>
                  <a:cubicBezTo>
                    <a:pt x="2050" y="385206"/>
                    <a:pt x="0" y="380257"/>
                    <a:pt x="0" y="375097"/>
                  </a:cubicBezTo>
                  <a:lnTo>
                    <a:pt x="0" y="19456"/>
                  </a:lnTo>
                  <a:cubicBezTo>
                    <a:pt x="0" y="14296"/>
                    <a:pt x="2050" y="9347"/>
                    <a:pt x="5698" y="5698"/>
                  </a:cubicBezTo>
                  <a:cubicBezTo>
                    <a:pt x="9347" y="2050"/>
                    <a:pt x="14296" y="0"/>
                    <a:pt x="19456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852070" cy="423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1era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2518535"/>
            <a:ext cx="1010631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  <a:r>
              <a:rPr lang="en-US" b="true" sz="3500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3. PÚBLICO OBJETIVO Y COORDINACIÓN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4925" y="3494719"/>
            <a:ext cx="34794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Público objetivo: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996866"/>
            <a:ext cx="15320713" cy="92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03"/>
              </a:lnSpc>
              <a:spcBef>
                <a:spcPct val="0"/>
              </a:spcBef>
            </a:pPr>
            <a:r>
              <a:rPr lang="en-US" sz="535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planificacion y enfoque del contenido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6723" y="4228144"/>
            <a:ext cx="51642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Pacientes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6723" y="4876800"/>
            <a:ext cx="51642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Familiares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6723" y="5610225"/>
            <a:ext cx="4263662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Personas interesadas en salud auditiva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5519968" y="3473035"/>
            <a:ext cx="4047679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Coordinación interna: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06916" y="3999544"/>
            <a:ext cx="51642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Área administrativa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106916" y="4733800"/>
            <a:ext cx="51642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Área comercial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639257" y="8466697"/>
            <a:ext cx="9245095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 identifica el público objetivo y se coordina internamente con las áreas involucradas para asegurar que el contenido esté alineado con las necesidades de la empresa.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0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94477" y="2547110"/>
            <a:ext cx="6975838" cy="5260993"/>
            <a:chOff x="0" y="0"/>
            <a:chExt cx="2766577" cy="208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66577" cy="2086479"/>
            </a:xfrm>
            <a:custGeom>
              <a:avLst/>
              <a:gdLst/>
              <a:ahLst/>
              <a:cxnLst/>
              <a:rect r="r" b="b" t="t" l="l"/>
              <a:pathLst>
                <a:path h="2086479" w="2766577">
                  <a:moveTo>
                    <a:pt x="27745" y="0"/>
                  </a:moveTo>
                  <a:lnTo>
                    <a:pt x="2738831" y="0"/>
                  </a:lnTo>
                  <a:cubicBezTo>
                    <a:pt x="2754155" y="0"/>
                    <a:pt x="2766577" y="12422"/>
                    <a:pt x="2766577" y="27745"/>
                  </a:cubicBezTo>
                  <a:lnTo>
                    <a:pt x="2766577" y="2058734"/>
                  </a:lnTo>
                  <a:cubicBezTo>
                    <a:pt x="2766577" y="2066092"/>
                    <a:pt x="2763654" y="2073149"/>
                    <a:pt x="2758450" y="2078353"/>
                  </a:cubicBezTo>
                  <a:cubicBezTo>
                    <a:pt x="2753247" y="2083556"/>
                    <a:pt x="2746190" y="2086479"/>
                    <a:pt x="2738831" y="2086479"/>
                  </a:cubicBezTo>
                  <a:lnTo>
                    <a:pt x="27745" y="2086479"/>
                  </a:lnTo>
                  <a:cubicBezTo>
                    <a:pt x="12422" y="2086479"/>
                    <a:pt x="0" y="2074057"/>
                    <a:pt x="0" y="2058734"/>
                  </a:cubicBezTo>
                  <a:lnTo>
                    <a:pt x="0" y="27745"/>
                  </a:lnTo>
                  <a:cubicBezTo>
                    <a:pt x="0" y="20387"/>
                    <a:pt x="2923" y="13330"/>
                    <a:pt x="8126" y="8126"/>
                  </a:cubicBezTo>
                  <a:cubicBezTo>
                    <a:pt x="13330" y="2923"/>
                    <a:pt x="20387" y="0"/>
                    <a:pt x="27745" y="0"/>
                  </a:cubicBezTo>
                  <a:close/>
                </a:path>
              </a:pathLst>
            </a:custGeom>
            <a:solidFill>
              <a:srgbClr val="FABF9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66577" cy="2115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03016" y="2763728"/>
            <a:ext cx="6856284" cy="5333370"/>
            <a:chOff x="0" y="0"/>
            <a:chExt cx="2731743" cy="21249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31743" cy="2124969"/>
            </a:xfrm>
            <a:custGeom>
              <a:avLst/>
              <a:gdLst/>
              <a:ahLst/>
              <a:cxnLst/>
              <a:rect r="r" b="b" t="t" l="l"/>
              <a:pathLst>
                <a:path h="2124969" w="2731743">
                  <a:moveTo>
                    <a:pt x="19196" y="0"/>
                  </a:moveTo>
                  <a:lnTo>
                    <a:pt x="2712547" y="0"/>
                  </a:lnTo>
                  <a:cubicBezTo>
                    <a:pt x="2717638" y="0"/>
                    <a:pt x="2722520" y="2022"/>
                    <a:pt x="2726120" y="5622"/>
                  </a:cubicBezTo>
                  <a:cubicBezTo>
                    <a:pt x="2729720" y="9222"/>
                    <a:pt x="2731743" y="14105"/>
                    <a:pt x="2731743" y="19196"/>
                  </a:cubicBezTo>
                  <a:lnTo>
                    <a:pt x="2731743" y="2105773"/>
                  </a:lnTo>
                  <a:cubicBezTo>
                    <a:pt x="2731743" y="2116375"/>
                    <a:pt x="2723148" y="2124969"/>
                    <a:pt x="2712547" y="2124969"/>
                  </a:cubicBezTo>
                  <a:lnTo>
                    <a:pt x="19196" y="2124969"/>
                  </a:lnTo>
                  <a:cubicBezTo>
                    <a:pt x="8594" y="2124969"/>
                    <a:pt x="0" y="2116375"/>
                    <a:pt x="0" y="2105773"/>
                  </a:cubicBezTo>
                  <a:lnTo>
                    <a:pt x="0" y="19196"/>
                  </a:lnTo>
                  <a:cubicBezTo>
                    <a:pt x="0" y="8594"/>
                    <a:pt x="8594" y="0"/>
                    <a:pt x="19196" y="0"/>
                  </a:cubicBezTo>
                  <a:close/>
                </a:path>
              </a:pathLst>
            </a:custGeom>
            <a:blipFill>
              <a:blip r:embed="rId4"/>
              <a:stretch>
                <a:fillRect l="-4469" t="0" r="-4469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669634" y="8343480"/>
            <a:ext cx="8948733" cy="1354035"/>
            <a:chOff x="0" y="0"/>
            <a:chExt cx="2565529" cy="3881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5529" cy="388191"/>
            </a:xfrm>
            <a:custGeom>
              <a:avLst/>
              <a:gdLst/>
              <a:ahLst/>
              <a:cxnLst/>
              <a:rect r="r" b="b" t="t" l="l"/>
              <a:pathLst>
                <a:path h="388191" w="2565529">
                  <a:moveTo>
                    <a:pt x="21629" y="0"/>
                  </a:moveTo>
                  <a:lnTo>
                    <a:pt x="2543900" y="0"/>
                  </a:lnTo>
                  <a:cubicBezTo>
                    <a:pt x="2555845" y="0"/>
                    <a:pt x="2565529" y="9683"/>
                    <a:pt x="2565529" y="21629"/>
                  </a:cubicBezTo>
                  <a:lnTo>
                    <a:pt x="2565529" y="366562"/>
                  </a:lnTo>
                  <a:cubicBezTo>
                    <a:pt x="2565529" y="372299"/>
                    <a:pt x="2563250" y="377800"/>
                    <a:pt x="2559194" y="381856"/>
                  </a:cubicBezTo>
                  <a:cubicBezTo>
                    <a:pt x="2555138" y="385912"/>
                    <a:pt x="2549637" y="388191"/>
                    <a:pt x="2543900" y="388191"/>
                  </a:cubicBezTo>
                  <a:lnTo>
                    <a:pt x="21629" y="388191"/>
                  </a:lnTo>
                  <a:cubicBezTo>
                    <a:pt x="15892" y="388191"/>
                    <a:pt x="10391" y="385912"/>
                    <a:pt x="6335" y="381856"/>
                  </a:cubicBezTo>
                  <a:cubicBezTo>
                    <a:pt x="2279" y="377800"/>
                    <a:pt x="0" y="372299"/>
                    <a:pt x="0" y="366562"/>
                  </a:cubicBezTo>
                  <a:lnTo>
                    <a:pt x="0" y="21629"/>
                  </a:lnTo>
                  <a:cubicBezTo>
                    <a:pt x="0" y="15892"/>
                    <a:pt x="2279" y="10391"/>
                    <a:pt x="6335" y="6335"/>
                  </a:cubicBezTo>
                  <a:cubicBezTo>
                    <a:pt x="10391" y="2279"/>
                    <a:pt x="15892" y="0"/>
                    <a:pt x="2162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565529" cy="41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2Da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9712" y="781339"/>
            <a:ext cx="13467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CREACIÓN DE CONTENIDO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9010"/>
            <a:ext cx="10580541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DESARROLLO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DEL CONTENIDO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8040" y="3677813"/>
            <a:ext cx="571732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Publicaciones informativas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10972" y="4876800"/>
            <a:ext cx="57173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Contenido educativo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86246" y="5886450"/>
            <a:ext cx="57173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Campañas promocionales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78332" y="6817503"/>
            <a:ext cx="571732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Material visual para redes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57522" y="8440328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contenido creado incluye publicaciones informativas, educativas, promocionales y material visual adaptado a redes sociales.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38446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628378" y="3350450"/>
            <a:ext cx="3835766" cy="4477756"/>
            <a:chOff x="0" y="0"/>
            <a:chExt cx="1778367" cy="20760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8367" cy="2076012"/>
            </a:xfrm>
            <a:custGeom>
              <a:avLst/>
              <a:gdLst/>
              <a:ahLst/>
              <a:cxnLst/>
              <a:rect r="r" b="b" t="t" l="l"/>
              <a:pathLst>
                <a:path h="2076012" w="1778367">
                  <a:moveTo>
                    <a:pt x="50459" y="0"/>
                  </a:moveTo>
                  <a:lnTo>
                    <a:pt x="1727909" y="0"/>
                  </a:lnTo>
                  <a:cubicBezTo>
                    <a:pt x="1741291" y="0"/>
                    <a:pt x="1754125" y="5316"/>
                    <a:pt x="1763588" y="14779"/>
                  </a:cubicBezTo>
                  <a:cubicBezTo>
                    <a:pt x="1773051" y="24242"/>
                    <a:pt x="1778367" y="37076"/>
                    <a:pt x="1778367" y="50459"/>
                  </a:cubicBezTo>
                  <a:lnTo>
                    <a:pt x="1778367" y="2025553"/>
                  </a:lnTo>
                  <a:cubicBezTo>
                    <a:pt x="1778367" y="2038936"/>
                    <a:pt x="1773051" y="2051770"/>
                    <a:pt x="1763588" y="2061233"/>
                  </a:cubicBezTo>
                  <a:cubicBezTo>
                    <a:pt x="1754125" y="2070696"/>
                    <a:pt x="1741291" y="2076012"/>
                    <a:pt x="1727909" y="2076012"/>
                  </a:cubicBezTo>
                  <a:lnTo>
                    <a:pt x="50459" y="2076012"/>
                  </a:lnTo>
                  <a:cubicBezTo>
                    <a:pt x="37076" y="2076012"/>
                    <a:pt x="24242" y="2070696"/>
                    <a:pt x="14779" y="2061233"/>
                  </a:cubicBezTo>
                  <a:cubicBezTo>
                    <a:pt x="5316" y="2051770"/>
                    <a:pt x="0" y="2038936"/>
                    <a:pt x="0" y="2025553"/>
                  </a:cubicBezTo>
                  <a:lnTo>
                    <a:pt x="0" y="50459"/>
                  </a:lnTo>
                  <a:cubicBezTo>
                    <a:pt x="0" y="37076"/>
                    <a:pt x="5316" y="24242"/>
                    <a:pt x="14779" y="14779"/>
                  </a:cubicBezTo>
                  <a:cubicBezTo>
                    <a:pt x="24242" y="5316"/>
                    <a:pt x="37076" y="0"/>
                    <a:pt x="50459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778367" cy="210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423481" y="3496896"/>
            <a:ext cx="3945362" cy="4539358"/>
            <a:chOff x="0" y="0"/>
            <a:chExt cx="1837642" cy="2114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7642" cy="2114309"/>
            </a:xfrm>
            <a:custGeom>
              <a:avLst/>
              <a:gdLst/>
              <a:ahLst/>
              <a:cxnLst/>
              <a:rect r="r" b="b" t="t" l="l"/>
              <a:pathLst>
                <a:path h="2114309" w="1837642">
                  <a:moveTo>
                    <a:pt x="33359" y="0"/>
                  </a:moveTo>
                  <a:lnTo>
                    <a:pt x="1804283" y="0"/>
                  </a:lnTo>
                  <a:cubicBezTo>
                    <a:pt x="1822706" y="0"/>
                    <a:pt x="1837642" y="14935"/>
                    <a:pt x="1837642" y="33359"/>
                  </a:cubicBezTo>
                  <a:lnTo>
                    <a:pt x="1837642" y="2080950"/>
                  </a:lnTo>
                  <a:cubicBezTo>
                    <a:pt x="1837642" y="2099373"/>
                    <a:pt x="1822706" y="2114309"/>
                    <a:pt x="1804283" y="2114309"/>
                  </a:cubicBezTo>
                  <a:lnTo>
                    <a:pt x="33359" y="2114309"/>
                  </a:lnTo>
                  <a:cubicBezTo>
                    <a:pt x="14935" y="2114309"/>
                    <a:pt x="0" y="2099373"/>
                    <a:pt x="0" y="2080950"/>
                  </a:cubicBezTo>
                  <a:lnTo>
                    <a:pt x="0" y="33359"/>
                  </a:lnTo>
                  <a:cubicBezTo>
                    <a:pt x="0" y="14935"/>
                    <a:pt x="14935" y="0"/>
                    <a:pt x="33359" y="0"/>
                  </a:cubicBezTo>
                  <a:close/>
                </a:path>
              </a:pathLst>
            </a:custGeom>
            <a:blipFill>
              <a:blip r:embed="rId4"/>
              <a:stretch>
                <a:fillRect l="-1216" t="0" r="-121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856026" y="8384136"/>
            <a:ext cx="10575948" cy="1354035"/>
            <a:chOff x="0" y="0"/>
            <a:chExt cx="3032038" cy="3881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32038" cy="388191"/>
            </a:xfrm>
            <a:custGeom>
              <a:avLst/>
              <a:gdLst/>
              <a:ahLst/>
              <a:cxnLst/>
              <a:rect r="r" b="b" t="t" l="l"/>
              <a:pathLst>
                <a:path h="388191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69890"/>
                  </a:lnTo>
                  <a:cubicBezTo>
                    <a:pt x="3032038" y="379997"/>
                    <a:pt x="3023845" y="388191"/>
                    <a:pt x="3013737" y="388191"/>
                  </a:cubicBezTo>
                  <a:lnTo>
                    <a:pt x="18301" y="388191"/>
                  </a:lnTo>
                  <a:cubicBezTo>
                    <a:pt x="8194" y="388191"/>
                    <a:pt x="0" y="379997"/>
                    <a:pt x="0" y="369890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032038" cy="41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61819" y="3272106"/>
            <a:ext cx="4007375" cy="3602807"/>
            <a:chOff x="0" y="0"/>
            <a:chExt cx="2309132" cy="20760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09133" cy="2076012"/>
            </a:xfrm>
            <a:custGeom>
              <a:avLst/>
              <a:gdLst/>
              <a:ahLst/>
              <a:cxnLst/>
              <a:rect r="r" b="b" t="t" l="l"/>
              <a:pathLst>
                <a:path h="2076012" w="2309133">
                  <a:moveTo>
                    <a:pt x="48298" y="0"/>
                  </a:moveTo>
                  <a:lnTo>
                    <a:pt x="2260834" y="0"/>
                  </a:lnTo>
                  <a:cubicBezTo>
                    <a:pt x="2273644" y="0"/>
                    <a:pt x="2285929" y="5089"/>
                    <a:pt x="2294986" y="14146"/>
                  </a:cubicBezTo>
                  <a:cubicBezTo>
                    <a:pt x="2304044" y="23204"/>
                    <a:pt x="2309133" y="35489"/>
                    <a:pt x="2309133" y="48298"/>
                  </a:cubicBezTo>
                  <a:lnTo>
                    <a:pt x="2309133" y="2027714"/>
                  </a:lnTo>
                  <a:cubicBezTo>
                    <a:pt x="2309133" y="2040523"/>
                    <a:pt x="2304044" y="2052808"/>
                    <a:pt x="2294986" y="2061866"/>
                  </a:cubicBezTo>
                  <a:cubicBezTo>
                    <a:pt x="2285929" y="2070923"/>
                    <a:pt x="2273644" y="2076012"/>
                    <a:pt x="2260834" y="2076012"/>
                  </a:cubicBezTo>
                  <a:lnTo>
                    <a:pt x="48298" y="2076012"/>
                  </a:lnTo>
                  <a:cubicBezTo>
                    <a:pt x="35489" y="2076012"/>
                    <a:pt x="23204" y="2070923"/>
                    <a:pt x="14146" y="2061866"/>
                  </a:cubicBezTo>
                  <a:cubicBezTo>
                    <a:pt x="5089" y="2052808"/>
                    <a:pt x="0" y="2040523"/>
                    <a:pt x="0" y="2027714"/>
                  </a:cubicBezTo>
                  <a:lnTo>
                    <a:pt x="0" y="48298"/>
                  </a:lnTo>
                  <a:cubicBezTo>
                    <a:pt x="0" y="35489"/>
                    <a:pt x="5089" y="23204"/>
                    <a:pt x="14146" y="14146"/>
                  </a:cubicBezTo>
                  <a:cubicBezTo>
                    <a:pt x="23204" y="5089"/>
                    <a:pt x="35489" y="0"/>
                    <a:pt x="48298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309132" cy="210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52269" y="3374734"/>
            <a:ext cx="4007261" cy="3556859"/>
            <a:chOff x="0" y="0"/>
            <a:chExt cx="2382042" cy="211430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82042" cy="2114309"/>
            </a:xfrm>
            <a:custGeom>
              <a:avLst/>
              <a:gdLst/>
              <a:ahLst/>
              <a:cxnLst/>
              <a:rect r="r" b="b" t="t" l="l"/>
              <a:pathLst>
                <a:path h="2114309" w="2382042">
                  <a:moveTo>
                    <a:pt x="32844" y="0"/>
                  </a:moveTo>
                  <a:lnTo>
                    <a:pt x="2349198" y="0"/>
                  </a:lnTo>
                  <a:cubicBezTo>
                    <a:pt x="2367337" y="0"/>
                    <a:pt x="2382042" y="14705"/>
                    <a:pt x="2382042" y="32844"/>
                  </a:cubicBezTo>
                  <a:lnTo>
                    <a:pt x="2382042" y="2081465"/>
                  </a:lnTo>
                  <a:cubicBezTo>
                    <a:pt x="2382042" y="2090176"/>
                    <a:pt x="2378581" y="2098530"/>
                    <a:pt x="2372422" y="2104689"/>
                  </a:cubicBezTo>
                  <a:cubicBezTo>
                    <a:pt x="2366263" y="2110848"/>
                    <a:pt x="2357909" y="2114309"/>
                    <a:pt x="2349198" y="2114309"/>
                  </a:cubicBezTo>
                  <a:lnTo>
                    <a:pt x="32844" y="2114309"/>
                  </a:lnTo>
                  <a:cubicBezTo>
                    <a:pt x="24133" y="2114309"/>
                    <a:pt x="15779" y="2110848"/>
                    <a:pt x="9620" y="2104689"/>
                  </a:cubicBezTo>
                  <a:cubicBezTo>
                    <a:pt x="3460" y="2098530"/>
                    <a:pt x="0" y="2090176"/>
                    <a:pt x="0" y="2081465"/>
                  </a:cubicBezTo>
                  <a:lnTo>
                    <a:pt x="0" y="32844"/>
                  </a:lnTo>
                  <a:cubicBezTo>
                    <a:pt x="0" y="24133"/>
                    <a:pt x="3460" y="15779"/>
                    <a:pt x="9620" y="9620"/>
                  </a:cubicBezTo>
                  <a:cubicBezTo>
                    <a:pt x="15779" y="3460"/>
                    <a:pt x="24133" y="0"/>
                    <a:pt x="32844" y="0"/>
                  </a:cubicBezTo>
                  <a:close/>
                </a:path>
              </a:pathLst>
            </a:custGeom>
            <a:blipFill>
              <a:blip r:embed="rId5"/>
              <a:stretch>
                <a:fillRect l="-2108" t="0" r="-210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746723" y="2509010"/>
            <a:ext cx="10580541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ADAPTACIÓN Y REVISIÓN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2Da Fase: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9712" y="781339"/>
            <a:ext cx="13467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CREACIÓN DE CONTENIDO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8040" y="3677813"/>
            <a:ext cx="571732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Adaptación por plataforma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45917" y="5259248"/>
            <a:ext cx="571732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Ajuste de formatos y textos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78332" y="6840398"/>
            <a:ext cx="571732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Revisión previa del contenido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57522" y="8440328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Antes de publicarse, el contenido es adaptado a cada plataforma y revisado para garantizar claridad y coherencia del mensaje.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38446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56026" y="8351269"/>
            <a:ext cx="10575948" cy="1314609"/>
            <a:chOff x="0" y="0"/>
            <a:chExt cx="3032038" cy="376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2038" cy="376888"/>
            </a:xfrm>
            <a:custGeom>
              <a:avLst/>
              <a:gdLst/>
              <a:ahLst/>
              <a:cxnLst/>
              <a:rect r="r" b="b" t="t" l="l"/>
              <a:pathLst>
                <a:path h="376888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58587"/>
                  </a:lnTo>
                  <a:cubicBezTo>
                    <a:pt x="3032038" y="368694"/>
                    <a:pt x="3023845" y="376888"/>
                    <a:pt x="3013737" y="376888"/>
                  </a:cubicBezTo>
                  <a:lnTo>
                    <a:pt x="18301" y="376888"/>
                  </a:lnTo>
                  <a:cubicBezTo>
                    <a:pt x="8194" y="376888"/>
                    <a:pt x="0" y="368694"/>
                    <a:pt x="0" y="358587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2038" cy="40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32352" y="4228639"/>
            <a:ext cx="4530068" cy="2759408"/>
            <a:chOff x="0" y="0"/>
            <a:chExt cx="2392749" cy="1457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2749" cy="1457500"/>
            </a:xfrm>
            <a:custGeom>
              <a:avLst/>
              <a:gdLst/>
              <a:ahLst/>
              <a:cxnLst/>
              <a:rect r="r" b="b" t="t" l="l"/>
              <a:pathLst>
                <a:path h="1457500" w="2392749">
                  <a:moveTo>
                    <a:pt x="42725" y="0"/>
                  </a:moveTo>
                  <a:lnTo>
                    <a:pt x="2350024" y="0"/>
                  </a:lnTo>
                  <a:cubicBezTo>
                    <a:pt x="2373621" y="0"/>
                    <a:pt x="2392749" y="19129"/>
                    <a:pt x="2392749" y="42725"/>
                  </a:cubicBezTo>
                  <a:lnTo>
                    <a:pt x="2392749" y="1414774"/>
                  </a:lnTo>
                  <a:cubicBezTo>
                    <a:pt x="2392749" y="1426106"/>
                    <a:pt x="2388248" y="1436973"/>
                    <a:pt x="2380235" y="1444986"/>
                  </a:cubicBezTo>
                  <a:cubicBezTo>
                    <a:pt x="2372223" y="1452998"/>
                    <a:pt x="2361355" y="1457500"/>
                    <a:pt x="2350024" y="1457500"/>
                  </a:cubicBezTo>
                  <a:lnTo>
                    <a:pt x="42725" y="1457500"/>
                  </a:lnTo>
                  <a:cubicBezTo>
                    <a:pt x="19129" y="1457500"/>
                    <a:pt x="0" y="1438371"/>
                    <a:pt x="0" y="1414774"/>
                  </a:cubicBezTo>
                  <a:lnTo>
                    <a:pt x="0" y="42725"/>
                  </a:lnTo>
                  <a:cubicBezTo>
                    <a:pt x="0" y="19129"/>
                    <a:pt x="19129" y="0"/>
                    <a:pt x="42725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392749" cy="1486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47036" y="4401730"/>
            <a:ext cx="4537100" cy="2925695"/>
            <a:chOff x="0" y="0"/>
            <a:chExt cx="5110847" cy="32956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10847" cy="3295668"/>
            </a:xfrm>
            <a:custGeom>
              <a:avLst/>
              <a:gdLst/>
              <a:ahLst/>
              <a:cxnLst/>
              <a:rect r="r" b="b" t="t" l="l"/>
              <a:pathLst>
                <a:path h="3295668" w="5110847">
                  <a:moveTo>
                    <a:pt x="29008" y="0"/>
                  </a:moveTo>
                  <a:lnTo>
                    <a:pt x="5081839" y="0"/>
                  </a:lnTo>
                  <a:cubicBezTo>
                    <a:pt x="5089532" y="0"/>
                    <a:pt x="5096910" y="3056"/>
                    <a:pt x="5102350" y="8496"/>
                  </a:cubicBezTo>
                  <a:cubicBezTo>
                    <a:pt x="5107791" y="13936"/>
                    <a:pt x="5110847" y="21315"/>
                    <a:pt x="5110847" y="29008"/>
                  </a:cubicBezTo>
                  <a:lnTo>
                    <a:pt x="5110847" y="3266660"/>
                  </a:lnTo>
                  <a:cubicBezTo>
                    <a:pt x="5110847" y="3282681"/>
                    <a:pt x="5097859" y="3295668"/>
                    <a:pt x="5081839" y="3295668"/>
                  </a:cubicBezTo>
                  <a:lnTo>
                    <a:pt x="29008" y="3295668"/>
                  </a:lnTo>
                  <a:cubicBezTo>
                    <a:pt x="12987" y="3295668"/>
                    <a:pt x="0" y="3282681"/>
                    <a:pt x="0" y="3266660"/>
                  </a:cubicBezTo>
                  <a:lnTo>
                    <a:pt x="0" y="29008"/>
                  </a:lnTo>
                  <a:cubicBezTo>
                    <a:pt x="0" y="12987"/>
                    <a:pt x="12987" y="0"/>
                    <a:pt x="29008" y="0"/>
                  </a:cubicBezTo>
                  <a:close/>
                </a:path>
              </a:pathLst>
            </a:custGeom>
            <a:blipFill>
              <a:blip r:embed="rId4"/>
              <a:stretch>
                <a:fillRect l="-7574" t="0" r="-7574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746723" y="2509010"/>
            <a:ext cx="10580541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DISTRIBUCIÓN Y PLATAFORMAS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3ra Fase: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9712" y="781339"/>
            <a:ext cx="13467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DISTRIBUCIÓN DEL CONTENIDO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9712" y="3848861"/>
            <a:ext cx="57173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Plataformas utilizadas: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8040" y="4801361"/>
            <a:ext cx="5717323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Facebook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Instagram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TikTok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YouTube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570677" y="4306061"/>
            <a:ext cx="57173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Tipo de publicación: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70677" y="5282732"/>
            <a:ext cx="57173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Publicación orgánica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46626" y="8381511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distribución del contenido se realiza de acuerdo con la planificación establecida y los canales digitales definidos.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235609" y="0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793367" y="5181946"/>
            <a:ext cx="4648007" cy="2463728"/>
            <a:chOff x="0" y="0"/>
            <a:chExt cx="3021883" cy="16017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21883" cy="1601783"/>
            </a:xfrm>
            <a:custGeom>
              <a:avLst/>
              <a:gdLst/>
              <a:ahLst/>
              <a:cxnLst/>
              <a:rect r="r" b="b" t="t" l="l"/>
              <a:pathLst>
                <a:path h="1601783" w="3021883">
                  <a:moveTo>
                    <a:pt x="41641" y="0"/>
                  </a:moveTo>
                  <a:lnTo>
                    <a:pt x="2980242" y="0"/>
                  </a:lnTo>
                  <a:cubicBezTo>
                    <a:pt x="2991285" y="0"/>
                    <a:pt x="3001877" y="4387"/>
                    <a:pt x="3009686" y="12196"/>
                  </a:cubicBezTo>
                  <a:cubicBezTo>
                    <a:pt x="3017495" y="20006"/>
                    <a:pt x="3021883" y="30597"/>
                    <a:pt x="3021883" y="41641"/>
                  </a:cubicBezTo>
                  <a:lnTo>
                    <a:pt x="3021883" y="1560142"/>
                  </a:lnTo>
                  <a:cubicBezTo>
                    <a:pt x="3021883" y="1571186"/>
                    <a:pt x="3017495" y="1581777"/>
                    <a:pt x="3009686" y="1589586"/>
                  </a:cubicBezTo>
                  <a:cubicBezTo>
                    <a:pt x="3001877" y="1597396"/>
                    <a:pt x="2991285" y="1601783"/>
                    <a:pt x="2980242" y="1601783"/>
                  </a:cubicBezTo>
                  <a:lnTo>
                    <a:pt x="41641" y="1601783"/>
                  </a:lnTo>
                  <a:cubicBezTo>
                    <a:pt x="30597" y="1601783"/>
                    <a:pt x="20006" y="1597396"/>
                    <a:pt x="12196" y="1589586"/>
                  </a:cubicBezTo>
                  <a:cubicBezTo>
                    <a:pt x="4387" y="1581777"/>
                    <a:pt x="0" y="1571186"/>
                    <a:pt x="0" y="1560142"/>
                  </a:cubicBezTo>
                  <a:lnTo>
                    <a:pt x="0" y="41641"/>
                  </a:lnTo>
                  <a:cubicBezTo>
                    <a:pt x="0" y="30597"/>
                    <a:pt x="4387" y="20006"/>
                    <a:pt x="12196" y="12196"/>
                  </a:cubicBezTo>
                  <a:cubicBezTo>
                    <a:pt x="20006" y="4387"/>
                    <a:pt x="30597" y="0"/>
                    <a:pt x="41641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21883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19287" y="5297721"/>
            <a:ext cx="4464852" cy="2505664"/>
            <a:chOff x="0" y="0"/>
            <a:chExt cx="3767495" cy="2114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67495" cy="2114309"/>
            </a:xfrm>
            <a:custGeom>
              <a:avLst/>
              <a:gdLst/>
              <a:ahLst/>
              <a:cxnLst/>
              <a:rect r="r" b="b" t="t" l="l"/>
              <a:pathLst>
                <a:path h="2114309" w="3767495">
                  <a:moveTo>
                    <a:pt x="29477" y="0"/>
                  </a:moveTo>
                  <a:lnTo>
                    <a:pt x="3738017" y="0"/>
                  </a:lnTo>
                  <a:cubicBezTo>
                    <a:pt x="3745835" y="0"/>
                    <a:pt x="3753333" y="3106"/>
                    <a:pt x="3758861" y="8634"/>
                  </a:cubicBezTo>
                  <a:cubicBezTo>
                    <a:pt x="3764389" y="14162"/>
                    <a:pt x="3767495" y="21660"/>
                    <a:pt x="3767495" y="29477"/>
                  </a:cubicBezTo>
                  <a:lnTo>
                    <a:pt x="3767495" y="2084831"/>
                  </a:lnTo>
                  <a:cubicBezTo>
                    <a:pt x="3767495" y="2092649"/>
                    <a:pt x="3764389" y="2100147"/>
                    <a:pt x="3758861" y="2105675"/>
                  </a:cubicBezTo>
                  <a:cubicBezTo>
                    <a:pt x="3753333" y="2111203"/>
                    <a:pt x="3745835" y="2114309"/>
                    <a:pt x="3738017" y="2114309"/>
                  </a:cubicBezTo>
                  <a:lnTo>
                    <a:pt x="29477" y="2114309"/>
                  </a:lnTo>
                  <a:cubicBezTo>
                    <a:pt x="21660" y="2114309"/>
                    <a:pt x="14162" y="2111203"/>
                    <a:pt x="8634" y="2105675"/>
                  </a:cubicBezTo>
                  <a:cubicBezTo>
                    <a:pt x="3106" y="2100147"/>
                    <a:pt x="0" y="2092649"/>
                    <a:pt x="0" y="2084831"/>
                  </a:cubicBezTo>
                  <a:lnTo>
                    <a:pt x="0" y="29477"/>
                  </a:lnTo>
                  <a:cubicBezTo>
                    <a:pt x="0" y="21660"/>
                    <a:pt x="3106" y="14162"/>
                    <a:pt x="8634" y="8634"/>
                  </a:cubicBezTo>
                  <a:cubicBezTo>
                    <a:pt x="14162" y="3106"/>
                    <a:pt x="21660" y="0"/>
                    <a:pt x="2947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63" r="0" b="-106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856026" y="8384136"/>
            <a:ext cx="10575948" cy="1281742"/>
            <a:chOff x="0" y="0"/>
            <a:chExt cx="3032038" cy="3674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32038" cy="367465"/>
            </a:xfrm>
            <a:custGeom>
              <a:avLst/>
              <a:gdLst/>
              <a:ahLst/>
              <a:cxnLst/>
              <a:rect r="r" b="b" t="t" l="l"/>
              <a:pathLst>
                <a:path h="367465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49164"/>
                  </a:lnTo>
                  <a:cubicBezTo>
                    <a:pt x="3032038" y="359271"/>
                    <a:pt x="3023845" y="367465"/>
                    <a:pt x="3013737" y="367465"/>
                  </a:cubicBezTo>
                  <a:lnTo>
                    <a:pt x="18301" y="367465"/>
                  </a:lnTo>
                  <a:cubicBezTo>
                    <a:pt x="8194" y="367465"/>
                    <a:pt x="0" y="359271"/>
                    <a:pt x="0" y="349164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032038" cy="396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72472" y="2578706"/>
            <a:ext cx="3753977" cy="4452251"/>
            <a:chOff x="0" y="0"/>
            <a:chExt cx="2306275" cy="27352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06275" cy="2735264"/>
            </a:xfrm>
            <a:custGeom>
              <a:avLst/>
              <a:gdLst/>
              <a:ahLst/>
              <a:cxnLst/>
              <a:rect r="r" b="b" t="t" l="l"/>
              <a:pathLst>
                <a:path h="2735264" w="2306275">
                  <a:moveTo>
                    <a:pt x="51558" y="0"/>
                  </a:moveTo>
                  <a:lnTo>
                    <a:pt x="2254717" y="0"/>
                  </a:lnTo>
                  <a:cubicBezTo>
                    <a:pt x="2283192" y="0"/>
                    <a:pt x="2306275" y="23083"/>
                    <a:pt x="2306275" y="51558"/>
                  </a:cubicBezTo>
                  <a:lnTo>
                    <a:pt x="2306275" y="2683706"/>
                  </a:lnTo>
                  <a:cubicBezTo>
                    <a:pt x="2306275" y="2712180"/>
                    <a:pt x="2283192" y="2735264"/>
                    <a:pt x="2254717" y="2735264"/>
                  </a:cubicBezTo>
                  <a:lnTo>
                    <a:pt x="51558" y="2735264"/>
                  </a:lnTo>
                  <a:cubicBezTo>
                    <a:pt x="23083" y="2735264"/>
                    <a:pt x="0" y="2712180"/>
                    <a:pt x="0" y="2683706"/>
                  </a:cubicBezTo>
                  <a:lnTo>
                    <a:pt x="0" y="51558"/>
                  </a:lnTo>
                  <a:cubicBezTo>
                    <a:pt x="0" y="23083"/>
                    <a:pt x="23083" y="0"/>
                    <a:pt x="51558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306275" cy="2763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831876" y="2787926"/>
            <a:ext cx="3606051" cy="4528034"/>
            <a:chOff x="0" y="0"/>
            <a:chExt cx="2875320" cy="36104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75320" cy="3610472"/>
            </a:xfrm>
            <a:custGeom>
              <a:avLst/>
              <a:gdLst/>
              <a:ahLst/>
              <a:cxnLst/>
              <a:rect r="r" b="b" t="t" l="l"/>
              <a:pathLst>
                <a:path h="3610472" w="2875320">
                  <a:moveTo>
                    <a:pt x="36498" y="0"/>
                  </a:moveTo>
                  <a:lnTo>
                    <a:pt x="2838822" y="0"/>
                  </a:lnTo>
                  <a:cubicBezTo>
                    <a:pt x="2858979" y="0"/>
                    <a:pt x="2875320" y="16341"/>
                    <a:pt x="2875320" y="36498"/>
                  </a:cubicBezTo>
                  <a:lnTo>
                    <a:pt x="2875320" y="3573974"/>
                  </a:lnTo>
                  <a:cubicBezTo>
                    <a:pt x="2875320" y="3594132"/>
                    <a:pt x="2858979" y="3610472"/>
                    <a:pt x="2838822" y="3610472"/>
                  </a:cubicBezTo>
                  <a:lnTo>
                    <a:pt x="36498" y="3610472"/>
                  </a:lnTo>
                  <a:cubicBezTo>
                    <a:pt x="16341" y="3610472"/>
                    <a:pt x="0" y="3594132"/>
                    <a:pt x="0" y="3573974"/>
                  </a:cubicBezTo>
                  <a:lnTo>
                    <a:pt x="0" y="36498"/>
                  </a:lnTo>
                  <a:cubicBezTo>
                    <a:pt x="0" y="16341"/>
                    <a:pt x="16341" y="0"/>
                    <a:pt x="36498" y="0"/>
                  </a:cubicBezTo>
                  <a:close/>
                </a:path>
              </a:pathLst>
            </a:custGeom>
            <a:blipFill>
              <a:blip r:embed="rId5"/>
              <a:stretch>
                <a:fillRect l="-458" t="0" r="-45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746723" y="2509010"/>
            <a:ext cx="1095218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REDIRECCIÓN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A CONTACTO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3ra Fase: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9712" y="781339"/>
            <a:ext cx="13467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DISTRIBUCIÓN DEL CONTENIDO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36525" y="3848861"/>
            <a:ext cx="5717323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Inclusión de canales de contacto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Principalmente WhatsApp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Seguimiento de consultas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4846626" y="8397944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Las publicaciones incluyen canales de contacto que permiten dar seguimiento a las consultas de los usuarios.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38446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56026" y="8411390"/>
            <a:ext cx="10575948" cy="1344347"/>
            <a:chOff x="0" y="0"/>
            <a:chExt cx="3032038" cy="3854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2038" cy="385413"/>
            </a:xfrm>
            <a:custGeom>
              <a:avLst/>
              <a:gdLst/>
              <a:ahLst/>
              <a:cxnLst/>
              <a:rect r="r" b="b" t="t" l="l"/>
              <a:pathLst>
                <a:path h="385413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67113"/>
                  </a:lnTo>
                  <a:cubicBezTo>
                    <a:pt x="3032038" y="377220"/>
                    <a:pt x="3023845" y="385413"/>
                    <a:pt x="3013737" y="385413"/>
                  </a:cubicBezTo>
                  <a:lnTo>
                    <a:pt x="18301" y="385413"/>
                  </a:lnTo>
                  <a:cubicBezTo>
                    <a:pt x="8194" y="385413"/>
                    <a:pt x="0" y="377220"/>
                    <a:pt x="0" y="367113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2038" cy="413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30147" y="5079882"/>
            <a:ext cx="3517059" cy="2826092"/>
            <a:chOff x="0" y="0"/>
            <a:chExt cx="1993412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93412" cy="1601783"/>
            </a:xfrm>
            <a:custGeom>
              <a:avLst/>
              <a:gdLst/>
              <a:ahLst/>
              <a:cxnLst/>
              <a:rect r="r" b="b" t="t" l="l"/>
              <a:pathLst>
                <a:path h="1601783" w="1993412">
                  <a:moveTo>
                    <a:pt x="55031" y="0"/>
                  </a:moveTo>
                  <a:lnTo>
                    <a:pt x="1938381" y="0"/>
                  </a:lnTo>
                  <a:cubicBezTo>
                    <a:pt x="1952976" y="0"/>
                    <a:pt x="1966974" y="5798"/>
                    <a:pt x="1977294" y="16118"/>
                  </a:cubicBezTo>
                  <a:cubicBezTo>
                    <a:pt x="1987614" y="26439"/>
                    <a:pt x="1993412" y="40436"/>
                    <a:pt x="1993412" y="55031"/>
                  </a:cubicBezTo>
                  <a:lnTo>
                    <a:pt x="1993412" y="1546752"/>
                  </a:lnTo>
                  <a:cubicBezTo>
                    <a:pt x="1993412" y="1561347"/>
                    <a:pt x="1987614" y="1575344"/>
                    <a:pt x="1977294" y="1585664"/>
                  </a:cubicBezTo>
                  <a:cubicBezTo>
                    <a:pt x="1966974" y="1595985"/>
                    <a:pt x="1952976" y="1601783"/>
                    <a:pt x="1938381" y="1601783"/>
                  </a:cubicBezTo>
                  <a:lnTo>
                    <a:pt x="55031" y="1601783"/>
                  </a:lnTo>
                  <a:cubicBezTo>
                    <a:pt x="40436" y="1601783"/>
                    <a:pt x="26439" y="1595985"/>
                    <a:pt x="16118" y="1585664"/>
                  </a:cubicBezTo>
                  <a:cubicBezTo>
                    <a:pt x="5798" y="1575344"/>
                    <a:pt x="0" y="1561347"/>
                    <a:pt x="0" y="1546752"/>
                  </a:cubicBezTo>
                  <a:lnTo>
                    <a:pt x="0" y="55031"/>
                  </a:lnTo>
                  <a:cubicBezTo>
                    <a:pt x="0" y="40436"/>
                    <a:pt x="5798" y="26439"/>
                    <a:pt x="16118" y="16118"/>
                  </a:cubicBezTo>
                  <a:cubicBezTo>
                    <a:pt x="26439" y="5798"/>
                    <a:pt x="40436" y="0"/>
                    <a:pt x="55031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993412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398425" y="5212685"/>
            <a:ext cx="3378470" cy="2874195"/>
            <a:chOff x="0" y="0"/>
            <a:chExt cx="2485262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85262" cy="2114309"/>
            </a:xfrm>
            <a:custGeom>
              <a:avLst/>
              <a:gdLst/>
              <a:ahLst/>
              <a:cxnLst/>
              <a:rect r="r" b="b" t="t" l="l"/>
              <a:pathLst>
                <a:path h="2114309" w="2485262">
                  <a:moveTo>
                    <a:pt x="38956" y="0"/>
                  </a:moveTo>
                  <a:lnTo>
                    <a:pt x="2446306" y="0"/>
                  </a:lnTo>
                  <a:cubicBezTo>
                    <a:pt x="2456637" y="0"/>
                    <a:pt x="2466546" y="4104"/>
                    <a:pt x="2473852" y="11410"/>
                  </a:cubicBezTo>
                  <a:cubicBezTo>
                    <a:pt x="2481157" y="18716"/>
                    <a:pt x="2485262" y="28624"/>
                    <a:pt x="2485262" y="38956"/>
                  </a:cubicBezTo>
                  <a:lnTo>
                    <a:pt x="2485262" y="2075352"/>
                  </a:lnTo>
                  <a:cubicBezTo>
                    <a:pt x="2485262" y="2085684"/>
                    <a:pt x="2481157" y="2095593"/>
                    <a:pt x="2473852" y="2102899"/>
                  </a:cubicBezTo>
                  <a:cubicBezTo>
                    <a:pt x="2466546" y="2110204"/>
                    <a:pt x="2456637" y="2114309"/>
                    <a:pt x="2446306" y="2114309"/>
                  </a:cubicBezTo>
                  <a:lnTo>
                    <a:pt x="38956" y="2114309"/>
                  </a:lnTo>
                  <a:cubicBezTo>
                    <a:pt x="17441" y="2114309"/>
                    <a:pt x="0" y="2096867"/>
                    <a:pt x="0" y="2075352"/>
                  </a:cubicBezTo>
                  <a:lnTo>
                    <a:pt x="0" y="38956"/>
                  </a:lnTo>
                  <a:cubicBezTo>
                    <a:pt x="0" y="17441"/>
                    <a:pt x="17441" y="0"/>
                    <a:pt x="38956" y="0"/>
                  </a:cubicBezTo>
                  <a:close/>
                </a:path>
              </a:pathLst>
            </a:custGeom>
            <a:blipFill>
              <a:blip r:embed="rId4"/>
              <a:stretch>
                <a:fillRect l="-1626" t="0" r="-162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880399" y="3886961"/>
            <a:ext cx="3700347" cy="2630126"/>
            <a:chOff x="0" y="0"/>
            <a:chExt cx="2253562" cy="1601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3562" cy="1601783"/>
            </a:xfrm>
            <a:custGeom>
              <a:avLst/>
              <a:gdLst/>
              <a:ahLst/>
              <a:cxnLst/>
              <a:rect r="r" b="b" t="t" l="l"/>
              <a:pathLst>
                <a:path h="1601783" w="2253562">
                  <a:moveTo>
                    <a:pt x="52305" y="0"/>
                  </a:moveTo>
                  <a:lnTo>
                    <a:pt x="2201257" y="0"/>
                  </a:lnTo>
                  <a:cubicBezTo>
                    <a:pt x="2215129" y="0"/>
                    <a:pt x="2228433" y="5511"/>
                    <a:pt x="2238242" y="15320"/>
                  </a:cubicBezTo>
                  <a:cubicBezTo>
                    <a:pt x="2248052" y="25129"/>
                    <a:pt x="2253562" y="38433"/>
                    <a:pt x="2253562" y="52305"/>
                  </a:cubicBezTo>
                  <a:lnTo>
                    <a:pt x="2253562" y="1549477"/>
                  </a:lnTo>
                  <a:cubicBezTo>
                    <a:pt x="2253562" y="1578365"/>
                    <a:pt x="2230144" y="1601783"/>
                    <a:pt x="2201257" y="1601783"/>
                  </a:cubicBezTo>
                  <a:lnTo>
                    <a:pt x="52305" y="1601783"/>
                  </a:lnTo>
                  <a:cubicBezTo>
                    <a:pt x="23418" y="1601783"/>
                    <a:pt x="0" y="1578365"/>
                    <a:pt x="0" y="1549477"/>
                  </a:cubicBezTo>
                  <a:lnTo>
                    <a:pt x="0" y="52305"/>
                  </a:lnTo>
                  <a:cubicBezTo>
                    <a:pt x="0" y="23418"/>
                    <a:pt x="23418" y="0"/>
                    <a:pt x="52305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253562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41812" y="4010555"/>
            <a:ext cx="3554535" cy="2674894"/>
            <a:chOff x="0" y="0"/>
            <a:chExt cx="2809601" cy="211430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9601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9601">
                  <a:moveTo>
                    <a:pt x="37027" y="0"/>
                  </a:moveTo>
                  <a:lnTo>
                    <a:pt x="2772574" y="0"/>
                  </a:lnTo>
                  <a:cubicBezTo>
                    <a:pt x="2793023" y="0"/>
                    <a:pt x="2809601" y="16577"/>
                    <a:pt x="2809601" y="37027"/>
                  </a:cubicBezTo>
                  <a:lnTo>
                    <a:pt x="2809601" y="2077282"/>
                  </a:lnTo>
                  <a:cubicBezTo>
                    <a:pt x="2809601" y="2087102"/>
                    <a:pt x="2805700" y="2096520"/>
                    <a:pt x="2798756" y="2103464"/>
                  </a:cubicBezTo>
                  <a:cubicBezTo>
                    <a:pt x="2791812" y="2110408"/>
                    <a:pt x="2782394" y="2114309"/>
                    <a:pt x="2772574" y="2114309"/>
                  </a:cubicBezTo>
                  <a:lnTo>
                    <a:pt x="37027" y="2114309"/>
                  </a:lnTo>
                  <a:cubicBezTo>
                    <a:pt x="16577" y="2114309"/>
                    <a:pt x="0" y="2097731"/>
                    <a:pt x="0" y="2077282"/>
                  </a:cubicBezTo>
                  <a:lnTo>
                    <a:pt x="0" y="37027"/>
                  </a:lnTo>
                  <a:cubicBezTo>
                    <a:pt x="0" y="27207"/>
                    <a:pt x="3901" y="17789"/>
                    <a:pt x="10845" y="10845"/>
                  </a:cubicBezTo>
                  <a:cubicBezTo>
                    <a:pt x="17789" y="3901"/>
                    <a:pt x="27207" y="0"/>
                    <a:pt x="3702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686" r="0" b="-268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4ta Fase: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6723" y="923925"/>
            <a:ext cx="15413088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INTERACCIÓN Y DERIVACIÓN DE CONSULTAS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6723" y="2509010"/>
            <a:ext cx="1095218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 INICIO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DE LA INTERACCIÓN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6723" y="3848861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Comentarios en publicaciones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27633" y="6545281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Reacciones del público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74608" y="3620261"/>
            <a:ext cx="42636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Mensajes directos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46626" y="8456501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Los objetivos definidos sirven como guía para el desarrollo del contenido y la</a:t>
            </a:r>
          </a:p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selección de las plataformas digitales.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08743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56026" y="8354240"/>
            <a:ext cx="10575948" cy="1283753"/>
            <a:chOff x="0" y="0"/>
            <a:chExt cx="3032038" cy="3680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2038" cy="368042"/>
            </a:xfrm>
            <a:custGeom>
              <a:avLst/>
              <a:gdLst/>
              <a:ahLst/>
              <a:cxnLst/>
              <a:rect r="r" b="b" t="t" l="l"/>
              <a:pathLst>
                <a:path h="368042" w="3032038">
                  <a:moveTo>
                    <a:pt x="18301" y="0"/>
                  </a:moveTo>
                  <a:lnTo>
                    <a:pt x="3013737" y="0"/>
                  </a:lnTo>
                  <a:cubicBezTo>
                    <a:pt x="3023845" y="0"/>
                    <a:pt x="3032038" y="8194"/>
                    <a:pt x="3032038" y="18301"/>
                  </a:cubicBezTo>
                  <a:lnTo>
                    <a:pt x="3032038" y="349741"/>
                  </a:lnTo>
                  <a:cubicBezTo>
                    <a:pt x="3032038" y="359848"/>
                    <a:pt x="3023845" y="368042"/>
                    <a:pt x="3013737" y="368042"/>
                  </a:cubicBezTo>
                  <a:lnTo>
                    <a:pt x="18301" y="368042"/>
                  </a:lnTo>
                  <a:cubicBezTo>
                    <a:pt x="8194" y="368042"/>
                    <a:pt x="0" y="359848"/>
                    <a:pt x="0" y="349741"/>
                  </a:cubicBezTo>
                  <a:lnTo>
                    <a:pt x="0" y="18301"/>
                  </a:lnTo>
                  <a:cubicBezTo>
                    <a:pt x="0" y="8194"/>
                    <a:pt x="8194" y="0"/>
                    <a:pt x="18301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2038" cy="396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34029" y="3446776"/>
            <a:ext cx="4312265" cy="4146277"/>
            <a:chOff x="0" y="0"/>
            <a:chExt cx="1665907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65907" cy="1601783"/>
            </a:xfrm>
            <a:custGeom>
              <a:avLst/>
              <a:gdLst/>
              <a:ahLst/>
              <a:cxnLst/>
              <a:rect r="r" b="b" t="t" l="l"/>
              <a:pathLst>
                <a:path h="1601783" w="1665907">
                  <a:moveTo>
                    <a:pt x="44883" y="0"/>
                  </a:moveTo>
                  <a:lnTo>
                    <a:pt x="1621024" y="0"/>
                  </a:lnTo>
                  <a:cubicBezTo>
                    <a:pt x="1645812" y="0"/>
                    <a:pt x="1665907" y="20095"/>
                    <a:pt x="1665907" y="44883"/>
                  </a:cubicBezTo>
                  <a:lnTo>
                    <a:pt x="1665907" y="1556900"/>
                  </a:lnTo>
                  <a:cubicBezTo>
                    <a:pt x="1665907" y="1581688"/>
                    <a:pt x="1645812" y="1601783"/>
                    <a:pt x="1621024" y="1601783"/>
                  </a:cubicBezTo>
                  <a:lnTo>
                    <a:pt x="44883" y="1601783"/>
                  </a:lnTo>
                  <a:cubicBezTo>
                    <a:pt x="20095" y="1601783"/>
                    <a:pt x="0" y="1581688"/>
                    <a:pt x="0" y="1556900"/>
                  </a:cubicBezTo>
                  <a:lnTo>
                    <a:pt x="0" y="44883"/>
                  </a:lnTo>
                  <a:cubicBezTo>
                    <a:pt x="0" y="20095"/>
                    <a:pt x="20095" y="0"/>
                    <a:pt x="44883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665907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72524" y="3641618"/>
            <a:ext cx="4142340" cy="4216852"/>
            <a:chOff x="0" y="0"/>
            <a:chExt cx="2076949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6949" cy="2114309"/>
            </a:xfrm>
            <a:custGeom>
              <a:avLst/>
              <a:gdLst/>
              <a:ahLst/>
              <a:cxnLst/>
              <a:rect r="r" b="b" t="t" l="l"/>
              <a:pathLst>
                <a:path h="2114309" w="2076949">
                  <a:moveTo>
                    <a:pt x="31773" y="0"/>
                  </a:moveTo>
                  <a:lnTo>
                    <a:pt x="2045177" y="0"/>
                  </a:lnTo>
                  <a:cubicBezTo>
                    <a:pt x="2062724" y="0"/>
                    <a:pt x="2076949" y="14225"/>
                    <a:pt x="2076949" y="31773"/>
                  </a:cubicBezTo>
                  <a:lnTo>
                    <a:pt x="2076949" y="2082536"/>
                  </a:lnTo>
                  <a:cubicBezTo>
                    <a:pt x="2076949" y="2090963"/>
                    <a:pt x="2073602" y="2099044"/>
                    <a:pt x="2067643" y="2105003"/>
                  </a:cubicBezTo>
                  <a:cubicBezTo>
                    <a:pt x="2061685" y="2110961"/>
                    <a:pt x="2053603" y="2114309"/>
                    <a:pt x="2045177" y="2114309"/>
                  </a:cubicBezTo>
                  <a:lnTo>
                    <a:pt x="31773" y="2114309"/>
                  </a:lnTo>
                  <a:cubicBezTo>
                    <a:pt x="14225" y="2114309"/>
                    <a:pt x="0" y="2100084"/>
                    <a:pt x="0" y="2082536"/>
                  </a:cubicBezTo>
                  <a:lnTo>
                    <a:pt x="0" y="31773"/>
                  </a:lnTo>
                  <a:cubicBezTo>
                    <a:pt x="0" y="23346"/>
                    <a:pt x="3347" y="15264"/>
                    <a:pt x="9306" y="9306"/>
                  </a:cubicBezTo>
                  <a:cubicBezTo>
                    <a:pt x="15264" y="3347"/>
                    <a:pt x="23346" y="0"/>
                    <a:pt x="31773" y="0"/>
                  </a:cubicBezTo>
                  <a:close/>
                </a:path>
              </a:pathLst>
            </a:custGeom>
            <a:blipFill>
              <a:blip r:embed="rId4"/>
              <a:stretch>
                <a:fillRect l="-899" t="0" r="-899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4ta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923925"/>
            <a:ext cx="15413088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INTERACCIÓN Y DERIVACIÓN DE CONSULTAS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456951"/>
            <a:ext cx="12821547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 ATENCIÓN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E IDENTIFICACIÓN DE CONSULTAS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18717" y="5614523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Respuesta inicial clara y cordial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00143" y="6201590"/>
            <a:ext cx="426366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Registro básico del interés del usuario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36440" y="4074955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Identificación del tipo de consulta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46626" y="8573842"/>
            <a:ext cx="8594748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 analiza el mensaje recibido para determinar si corresponde a una consulta informativa o comercial.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08743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4ta Fase: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6723" y="923925"/>
            <a:ext cx="15413088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INTERACCIÓN Y DERIVACIÓN DE CONSULTAS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6723" y="2509010"/>
            <a:ext cx="1095218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3. DERIVACIÓN A CANALES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DE ATENCIÓN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8717" y="5614523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Redirección a WhatsApp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159178" y="8278040"/>
            <a:ext cx="9987768" cy="1402814"/>
            <a:chOff x="0" y="0"/>
            <a:chExt cx="2863412" cy="402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082059" y="4426222"/>
            <a:ext cx="3187768" cy="3065064"/>
            <a:chOff x="0" y="0"/>
            <a:chExt cx="1665907" cy="16017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65907" cy="1601783"/>
            </a:xfrm>
            <a:custGeom>
              <a:avLst/>
              <a:gdLst/>
              <a:ahLst/>
              <a:cxnLst/>
              <a:rect r="r" b="b" t="t" l="l"/>
              <a:pathLst>
                <a:path h="1601783" w="1665907">
                  <a:moveTo>
                    <a:pt x="60716" y="0"/>
                  </a:moveTo>
                  <a:lnTo>
                    <a:pt x="1605191" y="0"/>
                  </a:lnTo>
                  <a:cubicBezTo>
                    <a:pt x="1638724" y="0"/>
                    <a:pt x="1665907" y="27183"/>
                    <a:pt x="1665907" y="60716"/>
                  </a:cubicBezTo>
                  <a:lnTo>
                    <a:pt x="1665907" y="1541067"/>
                  </a:lnTo>
                  <a:cubicBezTo>
                    <a:pt x="1665907" y="1574599"/>
                    <a:pt x="1638724" y="1601783"/>
                    <a:pt x="1605191" y="1601783"/>
                  </a:cubicBezTo>
                  <a:lnTo>
                    <a:pt x="60716" y="1601783"/>
                  </a:lnTo>
                  <a:cubicBezTo>
                    <a:pt x="27183" y="1601783"/>
                    <a:pt x="0" y="1574599"/>
                    <a:pt x="0" y="1541067"/>
                  </a:cubicBezTo>
                  <a:lnTo>
                    <a:pt x="0" y="60716"/>
                  </a:lnTo>
                  <a:cubicBezTo>
                    <a:pt x="0" y="27183"/>
                    <a:pt x="27183" y="0"/>
                    <a:pt x="60716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665907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62669" y="4570255"/>
            <a:ext cx="3062154" cy="3117235"/>
            <a:chOff x="0" y="0"/>
            <a:chExt cx="2076949" cy="21143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6949" cy="2114309"/>
            </a:xfrm>
            <a:custGeom>
              <a:avLst/>
              <a:gdLst/>
              <a:ahLst/>
              <a:cxnLst/>
              <a:rect r="r" b="b" t="t" l="l"/>
              <a:pathLst>
                <a:path h="2114309" w="2076949">
                  <a:moveTo>
                    <a:pt x="42980" y="0"/>
                  </a:moveTo>
                  <a:lnTo>
                    <a:pt x="2033969" y="0"/>
                  </a:lnTo>
                  <a:cubicBezTo>
                    <a:pt x="2057706" y="0"/>
                    <a:pt x="2076949" y="19243"/>
                    <a:pt x="2076949" y="42980"/>
                  </a:cubicBezTo>
                  <a:lnTo>
                    <a:pt x="2076949" y="2071328"/>
                  </a:lnTo>
                  <a:cubicBezTo>
                    <a:pt x="2076949" y="2082728"/>
                    <a:pt x="2072421" y="2093660"/>
                    <a:pt x="2064360" y="2101720"/>
                  </a:cubicBezTo>
                  <a:cubicBezTo>
                    <a:pt x="2056300" y="2109781"/>
                    <a:pt x="2045368" y="2114309"/>
                    <a:pt x="2033969" y="2114309"/>
                  </a:cubicBezTo>
                  <a:lnTo>
                    <a:pt x="42980" y="2114309"/>
                  </a:lnTo>
                  <a:cubicBezTo>
                    <a:pt x="19243" y="2114309"/>
                    <a:pt x="0" y="2095066"/>
                    <a:pt x="0" y="2071328"/>
                  </a:cubicBezTo>
                  <a:lnTo>
                    <a:pt x="0" y="42980"/>
                  </a:lnTo>
                  <a:cubicBezTo>
                    <a:pt x="0" y="31581"/>
                    <a:pt x="4528" y="20649"/>
                    <a:pt x="12589" y="12589"/>
                  </a:cubicBezTo>
                  <a:cubicBezTo>
                    <a:pt x="20649" y="4528"/>
                    <a:pt x="31581" y="0"/>
                    <a:pt x="42980" y="0"/>
                  </a:cubicBezTo>
                  <a:close/>
                </a:path>
              </a:pathLst>
            </a:custGeom>
            <a:blipFill>
              <a:blip r:embed="rId4"/>
              <a:stretch>
                <a:fillRect l="-40689" t="0" r="-40689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2300143" y="6201590"/>
            <a:ext cx="426366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Coordinación con el área correspondiente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36440" y="4074955"/>
            <a:ext cx="42636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Seguimiento de la consulta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55688" y="8352385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Las consultas que requieren mayor detalle son derivadas al canal de atención adecuado para su seguimiento.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9178" y="8278040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8906" y="3498276"/>
            <a:ext cx="5078591" cy="4064240"/>
            <a:chOff x="0" y="0"/>
            <a:chExt cx="2001555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01555" cy="1601783"/>
            </a:xfrm>
            <a:custGeom>
              <a:avLst/>
              <a:gdLst/>
              <a:ahLst/>
              <a:cxnLst/>
              <a:rect r="r" b="b" t="t" l="l"/>
              <a:pathLst>
                <a:path h="1601783" w="2001555">
                  <a:moveTo>
                    <a:pt x="38111" y="0"/>
                  </a:moveTo>
                  <a:lnTo>
                    <a:pt x="1963444" y="0"/>
                  </a:lnTo>
                  <a:cubicBezTo>
                    <a:pt x="1973552" y="0"/>
                    <a:pt x="1983246" y="4015"/>
                    <a:pt x="1990393" y="11162"/>
                  </a:cubicBezTo>
                  <a:cubicBezTo>
                    <a:pt x="1997540" y="18309"/>
                    <a:pt x="2001555" y="28003"/>
                    <a:pt x="2001555" y="38111"/>
                  </a:cubicBezTo>
                  <a:lnTo>
                    <a:pt x="2001555" y="1563672"/>
                  </a:lnTo>
                  <a:cubicBezTo>
                    <a:pt x="2001555" y="1584720"/>
                    <a:pt x="1984492" y="1601783"/>
                    <a:pt x="1963444" y="1601783"/>
                  </a:cubicBezTo>
                  <a:lnTo>
                    <a:pt x="38111" y="1601783"/>
                  </a:lnTo>
                  <a:cubicBezTo>
                    <a:pt x="17063" y="1601783"/>
                    <a:pt x="0" y="1584720"/>
                    <a:pt x="0" y="1563672"/>
                  </a:cubicBezTo>
                  <a:lnTo>
                    <a:pt x="0" y="38111"/>
                  </a:lnTo>
                  <a:cubicBezTo>
                    <a:pt x="0" y="17063"/>
                    <a:pt x="17063" y="0"/>
                    <a:pt x="38111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01555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3689263"/>
            <a:ext cx="4878469" cy="4133418"/>
            <a:chOff x="0" y="0"/>
            <a:chExt cx="2495414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95414" cy="2114309"/>
            </a:xfrm>
            <a:custGeom>
              <a:avLst/>
              <a:gdLst/>
              <a:ahLst/>
              <a:cxnLst/>
              <a:rect r="r" b="b" t="t" l="l"/>
              <a:pathLst>
                <a:path h="2114309" w="2495414">
                  <a:moveTo>
                    <a:pt x="26978" y="0"/>
                  </a:moveTo>
                  <a:lnTo>
                    <a:pt x="2468436" y="0"/>
                  </a:lnTo>
                  <a:cubicBezTo>
                    <a:pt x="2483335" y="0"/>
                    <a:pt x="2495414" y="12079"/>
                    <a:pt x="2495414" y="26978"/>
                  </a:cubicBezTo>
                  <a:lnTo>
                    <a:pt x="2495414" y="2087331"/>
                  </a:lnTo>
                  <a:cubicBezTo>
                    <a:pt x="2495414" y="2102230"/>
                    <a:pt x="2483335" y="2114309"/>
                    <a:pt x="2468436" y="2114309"/>
                  </a:cubicBezTo>
                  <a:lnTo>
                    <a:pt x="26978" y="2114309"/>
                  </a:lnTo>
                  <a:cubicBezTo>
                    <a:pt x="12079" y="2114309"/>
                    <a:pt x="0" y="2102230"/>
                    <a:pt x="0" y="2087331"/>
                  </a:cubicBezTo>
                  <a:lnTo>
                    <a:pt x="0" y="26978"/>
                  </a:lnTo>
                  <a:cubicBezTo>
                    <a:pt x="0" y="12079"/>
                    <a:pt x="12079" y="0"/>
                    <a:pt x="26978" y="0"/>
                  </a:cubicBezTo>
                  <a:close/>
                </a:path>
              </a:pathLst>
            </a:custGeom>
            <a:blipFill>
              <a:blip r:embed="rId4"/>
              <a:stretch>
                <a:fillRect l="-13585" t="0" r="-13585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5ta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904875"/>
            <a:ext cx="154130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PUBLICIDAD DIGITAL (PAID MEDIA)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9010"/>
            <a:ext cx="8397277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ACTIVACIÓN DE CAMPAÑ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86774" y="3898354"/>
            <a:ext cx="472100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Definición del objetivo publicitario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67191" y="6201590"/>
            <a:ext cx="426366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Determinación del periodo de difusión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45148" y="5622379"/>
            <a:ext cx="531287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Selección del contenido a promocionar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55688" y="8352385"/>
            <a:ext cx="859474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publicidad digital se activa cuando se busca ampliar el alcance de servicios o campañas específicas.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9178" y="8278040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06653" y="3363086"/>
            <a:ext cx="3966995" cy="4393142"/>
            <a:chOff x="0" y="0"/>
            <a:chExt cx="1665907" cy="18448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65907" cy="1844864"/>
            </a:xfrm>
            <a:custGeom>
              <a:avLst/>
              <a:gdLst/>
              <a:ahLst/>
              <a:cxnLst/>
              <a:rect r="r" b="b" t="t" l="l"/>
              <a:pathLst>
                <a:path h="1844864" w="1665907">
                  <a:moveTo>
                    <a:pt x="48790" y="0"/>
                  </a:moveTo>
                  <a:lnTo>
                    <a:pt x="1617117" y="0"/>
                  </a:lnTo>
                  <a:cubicBezTo>
                    <a:pt x="1644063" y="0"/>
                    <a:pt x="1665907" y="21844"/>
                    <a:pt x="1665907" y="48790"/>
                  </a:cubicBezTo>
                  <a:lnTo>
                    <a:pt x="1665907" y="1796074"/>
                  </a:lnTo>
                  <a:cubicBezTo>
                    <a:pt x="1665907" y="1823020"/>
                    <a:pt x="1644063" y="1844864"/>
                    <a:pt x="1617117" y="1844864"/>
                  </a:cubicBezTo>
                  <a:lnTo>
                    <a:pt x="48790" y="1844864"/>
                  </a:lnTo>
                  <a:cubicBezTo>
                    <a:pt x="21844" y="1844864"/>
                    <a:pt x="0" y="1823020"/>
                    <a:pt x="0" y="1796074"/>
                  </a:cubicBezTo>
                  <a:lnTo>
                    <a:pt x="0" y="48790"/>
                  </a:lnTo>
                  <a:cubicBezTo>
                    <a:pt x="0" y="21844"/>
                    <a:pt x="21844" y="0"/>
                    <a:pt x="48790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665907" cy="187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58079" y="3569528"/>
            <a:ext cx="3810675" cy="4467918"/>
            <a:chOff x="0" y="0"/>
            <a:chExt cx="2076949" cy="24351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6949" cy="2435169"/>
            </a:xfrm>
            <a:custGeom>
              <a:avLst/>
              <a:gdLst/>
              <a:ahLst/>
              <a:cxnLst/>
              <a:rect r="r" b="b" t="t" l="l"/>
              <a:pathLst>
                <a:path h="2435169" w="2076949">
                  <a:moveTo>
                    <a:pt x="34538" y="0"/>
                  </a:moveTo>
                  <a:lnTo>
                    <a:pt x="2042411" y="0"/>
                  </a:lnTo>
                  <a:cubicBezTo>
                    <a:pt x="2061486" y="0"/>
                    <a:pt x="2076949" y="15463"/>
                    <a:pt x="2076949" y="34538"/>
                  </a:cubicBezTo>
                  <a:lnTo>
                    <a:pt x="2076949" y="2400631"/>
                  </a:lnTo>
                  <a:cubicBezTo>
                    <a:pt x="2076949" y="2419706"/>
                    <a:pt x="2061486" y="2435169"/>
                    <a:pt x="2042411" y="2435169"/>
                  </a:cubicBezTo>
                  <a:lnTo>
                    <a:pt x="34538" y="2435169"/>
                  </a:lnTo>
                  <a:cubicBezTo>
                    <a:pt x="15463" y="2435169"/>
                    <a:pt x="0" y="2419706"/>
                    <a:pt x="0" y="2400631"/>
                  </a:cubicBezTo>
                  <a:lnTo>
                    <a:pt x="0" y="34538"/>
                  </a:lnTo>
                  <a:cubicBezTo>
                    <a:pt x="0" y="15463"/>
                    <a:pt x="15463" y="0"/>
                    <a:pt x="34538" y="0"/>
                  </a:cubicBezTo>
                  <a:close/>
                </a:path>
              </a:pathLst>
            </a:custGeom>
            <a:blipFill>
              <a:blip r:embed="rId4"/>
              <a:stretch>
                <a:fillRect l="-1086" t="0" r="-108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5ta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904875"/>
            <a:ext cx="154130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PUBLICIDAD DIGITAL (PAID MEDIA)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9010"/>
            <a:ext cx="8654860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EJECUCIÓN DE LA PUBLICID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25937" y="4179474"/>
            <a:ext cx="472100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Publicación de anuncios digitales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32150" y="6370340"/>
            <a:ext cx="426366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Uso de plataformas publicitarias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45148" y="5865399"/>
            <a:ext cx="531287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Segmentación básica del público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55688" y="8557172"/>
            <a:ext cx="8594748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Las campañas se ejecutan de forma periódica según las necesidades de la empresa.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9178" y="8278040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5776" y="3363086"/>
            <a:ext cx="4728008" cy="4546017"/>
            <a:chOff x="0" y="0"/>
            <a:chExt cx="1665907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65907" cy="1601783"/>
            </a:xfrm>
            <a:custGeom>
              <a:avLst/>
              <a:gdLst/>
              <a:ahLst/>
              <a:cxnLst/>
              <a:rect r="r" b="b" t="t" l="l"/>
              <a:pathLst>
                <a:path h="1601783" w="1665907">
                  <a:moveTo>
                    <a:pt x="40936" y="0"/>
                  </a:moveTo>
                  <a:lnTo>
                    <a:pt x="1624971" y="0"/>
                  </a:lnTo>
                  <a:cubicBezTo>
                    <a:pt x="1647579" y="0"/>
                    <a:pt x="1665907" y="18328"/>
                    <a:pt x="1665907" y="40936"/>
                  </a:cubicBezTo>
                  <a:lnTo>
                    <a:pt x="1665907" y="1560846"/>
                  </a:lnTo>
                  <a:cubicBezTo>
                    <a:pt x="1665907" y="1583455"/>
                    <a:pt x="1647579" y="1601783"/>
                    <a:pt x="1624971" y="1601783"/>
                  </a:cubicBezTo>
                  <a:lnTo>
                    <a:pt x="40936" y="1601783"/>
                  </a:lnTo>
                  <a:cubicBezTo>
                    <a:pt x="18328" y="1601783"/>
                    <a:pt x="0" y="1583455"/>
                    <a:pt x="0" y="1560846"/>
                  </a:cubicBezTo>
                  <a:lnTo>
                    <a:pt x="0" y="40936"/>
                  </a:lnTo>
                  <a:cubicBezTo>
                    <a:pt x="0" y="18328"/>
                    <a:pt x="18328" y="0"/>
                    <a:pt x="40936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665907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3576711"/>
            <a:ext cx="4541701" cy="4623396"/>
            <a:chOff x="0" y="0"/>
            <a:chExt cx="2076949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6949" cy="2114309"/>
            </a:xfrm>
            <a:custGeom>
              <a:avLst/>
              <a:gdLst/>
              <a:ahLst/>
              <a:cxnLst/>
              <a:rect r="r" b="b" t="t" l="l"/>
              <a:pathLst>
                <a:path h="2114309" w="2076949">
                  <a:moveTo>
                    <a:pt x="28979" y="0"/>
                  </a:moveTo>
                  <a:lnTo>
                    <a:pt x="2047970" y="0"/>
                  </a:lnTo>
                  <a:cubicBezTo>
                    <a:pt x="2063975" y="0"/>
                    <a:pt x="2076949" y="12974"/>
                    <a:pt x="2076949" y="28979"/>
                  </a:cubicBezTo>
                  <a:lnTo>
                    <a:pt x="2076949" y="2085330"/>
                  </a:lnTo>
                  <a:cubicBezTo>
                    <a:pt x="2076949" y="2101335"/>
                    <a:pt x="2063975" y="2114309"/>
                    <a:pt x="2047970" y="2114309"/>
                  </a:cubicBezTo>
                  <a:lnTo>
                    <a:pt x="28979" y="2114309"/>
                  </a:lnTo>
                  <a:cubicBezTo>
                    <a:pt x="12974" y="2114309"/>
                    <a:pt x="0" y="2101335"/>
                    <a:pt x="0" y="2085330"/>
                  </a:cubicBezTo>
                  <a:lnTo>
                    <a:pt x="0" y="28979"/>
                  </a:lnTo>
                  <a:cubicBezTo>
                    <a:pt x="0" y="12974"/>
                    <a:pt x="12974" y="0"/>
                    <a:pt x="28979" y="0"/>
                  </a:cubicBezTo>
                  <a:close/>
                </a:path>
              </a:pathLst>
            </a:custGeom>
            <a:blipFill>
              <a:blip r:embed="rId4"/>
              <a:stretch>
                <a:fillRect l="-612" t="0" r="-612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5ta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904875"/>
            <a:ext cx="154130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PUBLICIDAD DIGITAL (PAID MEDIA)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9010"/>
            <a:ext cx="10253568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3. GESTIÓN Y CONTROL DE CAMPAÑ</a:t>
            </a: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86774" y="3898354"/>
            <a:ext cx="472100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Supervisión del contenido publicado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67191" y="6201590"/>
            <a:ext cx="426366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Ajustes básicos durante la campaña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45148" y="5622379"/>
            <a:ext cx="480213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Evaluación general del rendimiento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50817" y="8352385"/>
            <a:ext cx="8271914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 realiza un control general para asegurar que la publicidad esté alineada a los objetivos establecidos.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8040" y="4426571"/>
            <a:ext cx="3376043" cy="3254903"/>
            <a:chOff x="0" y="0"/>
            <a:chExt cx="1799322" cy="1734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99322" cy="1734758"/>
            </a:xfrm>
            <a:custGeom>
              <a:avLst/>
              <a:gdLst/>
              <a:ahLst/>
              <a:cxnLst/>
              <a:rect r="r" b="b" t="t" l="l"/>
              <a:pathLst>
                <a:path h="1734758" w="1799322">
                  <a:moveTo>
                    <a:pt x="38984" y="0"/>
                  </a:moveTo>
                  <a:lnTo>
                    <a:pt x="1760338" y="0"/>
                  </a:lnTo>
                  <a:cubicBezTo>
                    <a:pt x="1781868" y="0"/>
                    <a:pt x="1799322" y="17454"/>
                    <a:pt x="1799322" y="38984"/>
                  </a:cubicBezTo>
                  <a:lnTo>
                    <a:pt x="1799322" y="1695774"/>
                  </a:lnTo>
                  <a:cubicBezTo>
                    <a:pt x="1799322" y="1706113"/>
                    <a:pt x="1795215" y="1716029"/>
                    <a:pt x="1787904" y="1723340"/>
                  </a:cubicBezTo>
                  <a:cubicBezTo>
                    <a:pt x="1780593" y="1730651"/>
                    <a:pt x="1770677" y="1734758"/>
                    <a:pt x="1760338" y="1734758"/>
                  </a:cubicBezTo>
                  <a:lnTo>
                    <a:pt x="38984" y="1734758"/>
                  </a:lnTo>
                  <a:cubicBezTo>
                    <a:pt x="17454" y="1734758"/>
                    <a:pt x="0" y="1717304"/>
                    <a:pt x="0" y="1695774"/>
                  </a:cubicBezTo>
                  <a:lnTo>
                    <a:pt x="0" y="38984"/>
                  </a:lnTo>
                  <a:cubicBezTo>
                    <a:pt x="0" y="17454"/>
                    <a:pt x="17454" y="0"/>
                    <a:pt x="3898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628" r="0" b="-2262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918077" y="4580581"/>
            <a:ext cx="5584281" cy="3077769"/>
            <a:chOff x="0" y="0"/>
            <a:chExt cx="2906263" cy="16017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06263" cy="1601783"/>
            </a:xfrm>
            <a:custGeom>
              <a:avLst/>
              <a:gdLst/>
              <a:ahLst/>
              <a:cxnLst/>
              <a:rect r="r" b="b" t="t" l="l"/>
              <a:pathLst>
                <a:path h="1601783" w="2906263">
                  <a:moveTo>
                    <a:pt x="34659" y="0"/>
                  </a:moveTo>
                  <a:lnTo>
                    <a:pt x="2871603" y="0"/>
                  </a:lnTo>
                  <a:cubicBezTo>
                    <a:pt x="2880796" y="0"/>
                    <a:pt x="2889611" y="3652"/>
                    <a:pt x="2896111" y="10152"/>
                  </a:cubicBezTo>
                  <a:cubicBezTo>
                    <a:pt x="2902611" y="16651"/>
                    <a:pt x="2906263" y="25467"/>
                    <a:pt x="2906263" y="34659"/>
                  </a:cubicBezTo>
                  <a:lnTo>
                    <a:pt x="2906263" y="1567123"/>
                  </a:lnTo>
                  <a:cubicBezTo>
                    <a:pt x="2906263" y="1576316"/>
                    <a:pt x="2902611" y="1585131"/>
                    <a:pt x="2896111" y="1591631"/>
                  </a:cubicBezTo>
                  <a:cubicBezTo>
                    <a:pt x="2889611" y="1598131"/>
                    <a:pt x="2880796" y="1601783"/>
                    <a:pt x="2871603" y="1601783"/>
                  </a:cubicBezTo>
                  <a:lnTo>
                    <a:pt x="34659" y="1601783"/>
                  </a:lnTo>
                  <a:cubicBezTo>
                    <a:pt x="25467" y="1601783"/>
                    <a:pt x="16651" y="1598131"/>
                    <a:pt x="10152" y="1591631"/>
                  </a:cubicBezTo>
                  <a:cubicBezTo>
                    <a:pt x="3652" y="1585131"/>
                    <a:pt x="0" y="1576316"/>
                    <a:pt x="0" y="1567123"/>
                  </a:cubicBezTo>
                  <a:lnTo>
                    <a:pt x="0" y="34659"/>
                  </a:lnTo>
                  <a:cubicBezTo>
                    <a:pt x="0" y="25467"/>
                    <a:pt x="3652" y="16651"/>
                    <a:pt x="10152" y="10152"/>
                  </a:cubicBezTo>
                  <a:cubicBezTo>
                    <a:pt x="16651" y="3652"/>
                    <a:pt x="25467" y="0"/>
                    <a:pt x="34659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906263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06650" y="4812369"/>
            <a:ext cx="5523830" cy="3130156"/>
            <a:chOff x="0" y="0"/>
            <a:chExt cx="3731150" cy="21143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31150" cy="2114309"/>
            </a:xfrm>
            <a:custGeom>
              <a:avLst/>
              <a:gdLst/>
              <a:ahLst/>
              <a:cxnLst/>
              <a:rect r="r" b="b" t="t" l="l"/>
              <a:pathLst>
                <a:path h="2114309" w="3731150">
                  <a:moveTo>
                    <a:pt x="23826" y="0"/>
                  </a:moveTo>
                  <a:lnTo>
                    <a:pt x="3707324" y="0"/>
                  </a:lnTo>
                  <a:cubicBezTo>
                    <a:pt x="3713643" y="0"/>
                    <a:pt x="3719703" y="2510"/>
                    <a:pt x="3724172" y="6979"/>
                  </a:cubicBezTo>
                  <a:cubicBezTo>
                    <a:pt x="3728640" y="11447"/>
                    <a:pt x="3731150" y="17507"/>
                    <a:pt x="3731150" y="23826"/>
                  </a:cubicBezTo>
                  <a:lnTo>
                    <a:pt x="3731150" y="2090482"/>
                  </a:lnTo>
                  <a:cubicBezTo>
                    <a:pt x="3731150" y="2096801"/>
                    <a:pt x="3728640" y="2102862"/>
                    <a:pt x="3724172" y="2107330"/>
                  </a:cubicBezTo>
                  <a:cubicBezTo>
                    <a:pt x="3719703" y="2111798"/>
                    <a:pt x="3713643" y="2114309"/>
                    <a:pt x="3707324" y="2114309"/>
                  </a:cubicBezTo>
                  <a:lnTo>
                    <a:pt x="23826" y="2114309"/>
                  </a:lnTo>
                  <a:cubicBezTo>
                    <a:pt x="10667" y="2114309"/>
                    <a:pt x="0" y="2103641"/>
                    <a:pt x="0" y="209048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blipFill>
              <a:blip r:embed="rId5"/>
              <a:stretch>
                <a:fillRect l="-426" t="0" r="-42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631570" y="7681475"/>
            <a:ext cx="1044203" cy="522101"/>
          </a:xfrm>
          <a:custGeom>
            <a:avLst/>
            <a:gdLst/>
            <a:ahLst/>
            <a:cxnLst/>
            <a:rect r="r" b="b" t="t" l="l"/>
            <a:pathLst>
              <a:path h="522101" w="1044203">
                <a:moveTo>
                  <a:pt x="0" y="0"/>
                </a:moveTo>
                <a:lnTo>
                  <a:pt x="1044203" y="0"/>
                </a:lnTo>
                <a:lnTo>
                  <a:pt x="1044203" y="522101"/>
                </a:lnTo>
                <a:lnTo>
                  <a:pt x="0" y="5221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018722" y="7681475"/>
            <a:ext cx="1661232" cy="522101"/>
          </a:xfrm>
          <a:custGeom>
            <a:avLst/>
            <a:gdLst/>
            <a:ahLst/>
            <a:cxnLst/>
            <a:rect r="r" b="b" t="t" l="l"/>
            <a:pathLst>
              <a:path h="522101" w="1661232">
                <a:moveTo>
                  <a:pt x="0" y="0"/>
                </a:moveTo>
                <a:lnTo>
                  <a:pt x="1661231" y="0"/>
                </a:lnTo>
                <a:lnTo>
                  <a:pt x="1661231" y="522101"/>
                </a:lnTo>
                <a:lnTo>
                  <a:pt x="0" y="5221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6ta Fase: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6723" y="904875"/>
            <a:ext cx="15413088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MONITOREO Y ANÁLISIS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6723" y="2509010"/>
            <a:ext cx="1080055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REVISIÓN DEL CONTENIDO PUBLICADO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83495" y="3377854"/>
            <a:ext cx="4721009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Observación de comentarios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57005" y="3584546"/>
            <a:ext cx="4802295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Evaluación del alcance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865" y="3601691"/>
            <a:ext cx="480213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51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Análisis de reacciones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 revisa el desempeño del contenido para identificar el nivel de interacción generado.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36067" y="4758364"/>
            <a:ext cx="4030687" cy="2956241"/>
            <a:chOff x="0" y="0"/>
            <a:chExt cx="2183951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48019" y="0"/>
                  </a:moveTo>
                  <a:lnTo>
                    <a:pt x="2135932" y="0"/>
                  </a:lnTo>
                  <a:cubicBezTo>
                    <a:pt x="2148667" y="0"/>
                    <a:pt x="2160881" y="5059"/>
                    <a:pt x="2169887" y="14064"/>
                  </a:cubicBezTo>
                  <a:cubicBezTo>
                    <a:pt x="2178892" y="23070"/>
                    <a:pt x="2183951" y="35283"/>
                    <a:pt x="2183951" y="48019"/>
                  </a:cubicBezTo>
                  <a:lnTo>
                    <a:pt x="2183951" y="1553764"/>
                  </a:lnTo>
                  <a:cubicBezTo>
                    <a:pt x="2183951" y="1580284"/>
                    <a:pt x="2162452" y="1601783"/>
                    <a:pt x="2135932" y="1601783"/>
                  </a:cubicBezTo>
                  <a:lnTo>
                    <a:pt x="48019" y="1601783"/>
                  </a:lnTo>
                  <a:cubicBezTo>
                    <a:pt x="21499" y="1601783"/>
                    <a:pt x="0" y="1580284"/>
                    <a:pt x="0" y="1553764"/>
                  </a:cubicBezTo>
                  <a:lnTo>
                    <a:pt x="0" y="48019"/>
                  </a:lnTo>
                  <a:cubicBezTo>
                    <a:pt x="0" y="21499"/>
                    <a:pt x="21499" y="0"/>
                    <a:pt x="48019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39103" y="4981000"/>
            <a:ext cx="3987055" cy="3006560"/>
            <a:chOff x="0" y="0"/>
            <a:chExt cx="2803823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33010" y="0"/>
                  </a:moveTo>
                  <a:lnTo>
                    <a:pt x="2770813" y="0"/>
                  </a:lnTo>
                  <a:cubicBezTo>
                    <a:pt x="2779568" y="0"/>
                    <a:pt x="2787965" y="3478"/>
                    <a:pt x="2794155" y="9668"/>
                  </a:cubicBezTo>
                  <a:cubicBezTo>
                    <a:pt x="2800346" y="15859"/>
                    <a:pt x="2803823" y="24255"/>
                    <a:pt x="2803823" y="33010"/>
                  </a:cubicBezTo>
                  <a:lnTo>
                    <a:pt x="2803823" y="2081299"/>
                  </a:lnTo>
                  <a:cubicBezTo>
                    <a:pt x="2803823" y="2090054"/>
                    <a:pt x="2800346" y="2098450"/>
                    <a:pt x="2794155" y="2104640"/>
                  </a:cubicBezTo>
                  <a:cubicBezTo>
                    <a:pt x="2787965" y="2110831"/>
                    <a:pt x="2779568" y="2114309"/>
                    <a:pt x="2770813" y="2114309"/>
                  </a:cubicBezTo>
                  <a:lnTo>
                    <a:pt x="33010" y="2114309"/>
                  </a:lnTo>
                  <a:cubicBezTo>
                    <a:pt x="24255" y="2114309"/>
                    <a:pt x="15859" y="2110831"/>
                    <a:pt x="9668" y="2104640"/>
                  </a:cubicBezTo>
                  <a:cubicBezTo>
                    <a:pt x="3478" y="2098450"/>
                    <a:pt x="0" y="2090054"/>
                    <a:pt x="0" y="2081299"/>
                  </a:cubicBezTo>
                  <a:lnTo>
                    <a:pt x="0" y="33010"/>
                  </a:lnTo>
                  <a:cubicBezTo>
                    <a:pt x="0" y="24255"/>
                    <a:pt x="3478" y="15859"/>
                    <a:pt x="9668" y="9668"/>
                  </a:cubicBezTo>
                  <a:cubicBezTo>
                    <a:pt x="15859" y="3478"/>
                    <a:pt x="24255" y="0"/>
                    <a:pt x="33010" y="0"/>
                  </a:cubicBezTo>
                  <a:close/>
                </a:path>
              </a:pathLst>
            </a:custGeom>
            <a:blipFill>
              <a:blip r:embed="rId4"/>
              <a:stretch>
                <a:fillRect l="-1040" t="0" r="-104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897065" y="4400662"/>
            <a:ext cx="3240819" cy="3423645"/>
            <a:chOff x="0" y="0"/>
            <a:chExt cx="2183951" cy="23071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3951" cy="2307155"/>
            </a:xfrm>
            <a:custGeom>
              <a:avLst/>
              <a:gdLst/>
              <a:ahLst/>
              <a:cxnLst/>
              <a:rect r="r" b="b" t="t" l="l"/>
              <a:pathLst>
                <a:path h="2307155" w="2183951">
                  <a:moveTo>
                    <a:pt x="59722" y="0"/>
                  </a:moveTo>
                  <a:lnTo>
                    <a:pt x="2124229" y="0"/>
                  </a:lnTo>
                  <a:cubicBezTo>
                    <a:pt x="2140068" y="0"/>
                    <a:pt x="2155259" y="6292"/>
                    <a:pt x="2166459" y="17492"/>
                  </a:cubicBezTo>
                  <a:cubicBezTo>
                    <a:pt x="2177659" y="28692"/>
                    <a:pt x="2183951" y="43883"/>
                    <a:pt x="2183951" y="59722"/>
                  </a:cubicBezTo>
                  <a:lnTo>
                    <a:pt x="2183951" y="2247433"/>
                  </a:lnTo>
                  <a:cubicBezTo>
                    <a:pt x="2183951" y="2263273"/>
                    <a:pt x="2177659" y="2278463"/>
                    <a:pt x="2166459" y="2289663"/>
                  </a:cubicBezTo>
                  <a:cubicBezTo>
                    <a:pt x="2155259" y="2300863"/>
                    <a:pt x="2140068" y="2307155"/>
                    <a:pt x="2124229" y="2307155"/>
                  </a:cubicBezTo>
                  <a:lnTo>
                    <a:pt x="59722" y="2307155"/>
                  </a:lnTo>
                  <a:cubicBezTo>
                    <a:pt x="43883" y="2307155"/>
                    <a:pt x="28692" y="2300863"/>
                    <a:pt x="17492" y="2289663"/>
                  </a:cubicBezTo>
                  <a:cubicBezTo>
                    <a:pt x="6292" y="2278463"/>
                    <a:pt x="0" y="2263273"/>
                    <a:pt x="0" y="2247433"/>
                  </a:cubicBezTo>
                  <a:lnTo>
                    <a:pt x="0" y="59722"/>
                  </a:lnTo>
                  <a:cubicBezTo>
                    <a:pt x="0" y="43883"/>
                    <a:pt x="6292" y="28692"/>
                    <a:pt x="17492" y="17492"/>
                  </a:cubicBezTo>
                  <a:cubicBezTo>
                    <a:pt x="28692" y="6292"/>
                    <a:pt x="43883" y="0"/>
                    <a:pt x="59722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183951" cy="233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658295" y="4658499"/>
            <a:ext cx="3205736" cy="3481920"/>
            <a:chOff x="0" y="0"/>
            <a:chExt cx="2803823" cy="30453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3823" cy="3045381"/>
            </a:xfrm>
            <a:custGeom>
              <a:avLst/>
              <a:gdLst/>
              <a:ahLst/>
              <a:cxnLst/>
              <a:rect r="r" b="b" t="t" l="l"/>
              <a:pathLst>
                <a:path h="3045381" w="2803823">
                  <a:moveTo>
                    <a:pt x="41055" y="0"/>
                  </a:moveTo>
                  <a:lnTo>
                    <a:pt x="2762768" y="0"/>
                  </a:lnTo>
                  <a:cubicBezTo>
                    <a:pt x="2773657" y="0"/>
                    <a:pt x="2784099" y="4325"/>
                    <a:pt x="2791799" y="12025"/>
                  </a:cubicBezTo>
                  <a:cubicBezTo>
                    <a:pt x="2799498" y="19724"/>
                    <a:pt x="2803823" y="30167"/>
                    <a:pt x="2803823" y="41055"/>
                  </a:cubicBezTo>
                  <a:lnTo>
                    <a:pt x="2803823" y="3004326"/>
                  </a:lnTo>
                  <a:cubicBezTo>
                    <a:pt x="2803823" y="3027000"/>
                    <a:pt x="2785442" y="3045381"/>
                    <a:pt x="2762768" y="3045381"/>
                  </a:cubicBezTo>
                  <a:lnTo>
                    <a:pt x="41055" y="3045381"/>
                  </a:lnTo>
                  <a:cubicBezTo>
                    <a:pt x="18381" y="3045381"/>
                    <a:pt x="0" y="3027000"/>
                    <a:pt x="0" y="3004326"/>
                  </a:cubicBezTo>
                  <a:lnTo>
                    <a:pt x="0" y="41055"/>
                  </a:lnTo>
                  <a:cubicBezTo>
                    <a:pt x="0" y="18381"/>
                    <a:pt x="18381" y="0"/>
                    <a:pt x="4105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747" r="0" b="-2747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6ta Fase: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6723" y="904875"/>
            <a:ext cx="15413088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MONITOREO Y ANÁLISIS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1436" y="2504769"/>
            <a:ext cx="13053333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ANÁLISIS DEL COMPORTAMIENTO DEL PÚBLICO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83495" y="3394999"/>
            <a:ext cx="4721009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Observación de preferencias del usuario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57005" y="3377854"/>
            <a:ext cx="4802295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Comparación básica de resultados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3119" y="3476934"/>
            <a:ext cx="4802130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Identificación de contenidos con mayor impacto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análisis permite reconocer qué tipo de contenido genera mayor interés en el público.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22052" y="4910764"/>
            <a:ext cx="3840462" cy="2816723"/>
            <a:chOff x="0" y="0"/>
            <a:chExt cx="2183951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50397" y="0"/>
                  </a:moveTo>
                  <a:lnTo>
                    <a:pt x="2133554" y="0"/>
                  </a:lnTo>
                  <a:cubicBezTo>
                    <a:pt x="2146920" y="0"/>
                    <a:pt x="2159739" y="5310"/>
                    <a:pt x="2169190" y="14761"/>
                  </a:cubicBezTo>
                  <a:cubicBezTo>
                    <a:pt x="2178641" y="24212"/>
                    <a:pt x="2183951" y="37031"/>
                    <a:pt x="2183951" y="50397"/>
                  </a:cubicBezTo>
                  <a:lnTo>
                    <a:pt x="2183951" y="1551386"/>
                  </a:lnTo>
                  <a:cubicBezTo>
                    <a:pt x="2183951" y="1564752"/>
                    <a:pt x="2178641" y="1577570"/>
                    <a:pt x="2169190" y="1587022"/>
                  </a:cubicBezTo>
                  <a:cubicBezTo>
                    <a:pt x="2159739" y="1596473"/>
                    <a:pt x="2146920" y="1601783"/>
                    <a:pt x="2133554" y="1601783"/>
                  </a:cubicBezTo>
                  <a:lnTo>
                    <a:pt x="50397" y="1601783"/>
                  </a:lnTo>
                  <a:cubicBezTo>
                    <a:pt x="37031" y="1601783"/>
                    <a:pt x="24212" y="1596473"/>
                    <a:pt x="14761" y="1587022"/>
                  </a:cubicBezTo>
                  <a:cubicBezTo>
                    <a:pt x="5310" y="1577570"/>
                    <a:pt x="0" y="1564752"/>
                    <a:pt x="0" y="1551386"/>
                  </a:cubicBezTo>
                  <a:lnTo>
                    <a:pt x="0" y="50397"/>
                  </a:lnTo>
                  <a:cubicBezTo>
                    <a:pt x="0" y="37031"/>
                    <a:pt x="5310" y="24212"/>
                    <a:pt x="14761" y="14761"/>
                  </a:cubicBezTo>
                  <a:cubicBezTo>
                    <a:pt x="24212" y="5310"/>
                    <a:pt x="37031" y="0"/>
                    <a:pt x="50397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39103" y="5122893"/>
            <a:ext cx="3798888" cy="2864668"/>
            <a:chOff x="0" y="0"/>
            <a:chExt cx="2803823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34645" y="0"/>
                  </a:moveTo>
                  <a:lnTo>
                    <a:pt x="2769178" y="0"/>
                  </a:lnTo>
                  <a:cubicBezTo>
                    <a:pt x="2778367" y="0"/>
                    <a:pt x="2787179" y="3650"/>
                    <a:pt x="2793676" y="10147"/>
                  </a:cubicBezTo>
                  <a:cubicBezTo>
                    <a:pt x="2800173" y="16645"/>
                    <a:pt x="2803823" y="25457"/>
                    <a:pt x="2803823" y="34645"/>
                  </a:cubicBezTo>
                  <a:lnTo>
                    <a:pt x="2803823" y="2079664"/>
                  </a:lnTo>
                  <a:cubicBezTo>
                    <a:pt x="2803823" y="2088852"/>
                    <a:pt x="2800173" y="2097664"/>
                    <a:pt x="2793676" y="2104161"/>
                  </a:cubicBezTo>
                  <a:cubicBezTo>
                    <a:pt x="2787179" y="2110659"/>
                    <a:pt x="2778367" y="2114309"/>
                    <a:pt x="2769178" y="2114309"/>
                  </a:cubicBezTo>
                  <a:lnTo>
                    <a:pt x="34645" y="2114309"/>
                  </a:lnTo>
                  <a:cubicBezTo>
                    <a:pt x="25457" y="2114309"/>
                    <a:pt x="16645" y="2110659"/>
                    <a:pt x="10147" y="2104161"/>
                  </a:cubicBezTo>
                  <a:cubicBezTo>
                    <a:pt x="3650" y="2097664"/>
                    <a:pt x="0" y="2088852"/>
                    <a:pt x="0" y="2079664"/>
                  </a:cubicBezTo>
                  <a:lnTo>
                    <a:pt x="0" y="34645"/>
                  </a:lnTo>
                  <a:cubicBezTo>
                    <a:pt x="0" y="25457"/>
                    <a:pt x="3650" y="16645"/>
                    <a:pt x="10147" y="10147"/>
                  </a:cubicBezTo>
                  <a:cubicBezTo>
                    <a:pt x="16645" y="3650"/>
                    <a:pt x="25457" y="0"/>
                    <a:pt x="34645" y="0"/>
                  </a:cubicBezTo>
                  <a:close/>
                </a:path>
              </a:pathLst>
            </a:custGeom>
            <a:blipFill>
              <a:blip r:embed="rId4"/>
              <a:stretch>
                <a:fillRect l="-13421" t="0" r="-13421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678248" y="4910764"/>
            <a:ext cx="3840462" cy="2816723"/>
            <a:chOff x="0" y="0"/>
            <a:chExt cx="2183951" cy="1601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50397" y="0"/>
                  </a:moveTo>
                  <a:lnTo>
                    <a:pt x="2133554" y="0"/>
                  </a:lnTo>
                  <a:cubicBezTo>
                    <a:pt x="2146920" y="0"/>
                    <a:pt x="2159739" y="5310"/>
                    <a:pt x="2169190" y="14761"/>
                  </a:cubicBezTo>
                  <a:cubicBezTo>
                    <a:pt x="2178641" y="24212"/>
                    <a:pt x="2183951" y="37031"/>
                    <a:pt x="2183951" y="50397"/>
                  </a:cubicBezTo>
                  <a:lnTo>
                    <a:pt x="2183951" y="1551386"/>
                  </a:lnTo>
                  <a:cubicBezTo>
                    <a:pt x="2183951" y="1564752"/>
                    <a:pt x="2178641" y="1577570"/>
                    <a:pt x="2169190" y="1587022"/>
                  </a:cubicBezTo>
                  <a:cubicBezTo>
                    <a:pt x="2159739" y="1596473"/>
                    <a:pt x="2146920" y="1601783"/>
                    <a:pt x="2133554" y="1601783"/>
                  </a:cubicBezTo>
                  <a:lnTo>
                    <a:pt x="50397" y="1601783"/>
                  </a:lnTo>
                  <a:cubicBezTo>
                    <a:pt x="37031" y="1601783"/>
                    <a:pt x="24212" y="1596473"/>
                    <a:pt x="14761" y="1587022"/>
                  </a:cubicBezTo>
                  <a:cubicBezTo>
                    <a:pt x="5310" y="1577570"/>
                    <a:pt x="0" y="1564752"/>
                    <a:pt x="0" y="1551386"/>
                  </a:cubicBezTo>
                  <a:lnTo>
                    <a:pt x="0" y="50397"/>
                  </a:lnTo>
                  <a:cubicBezTo>
                    <a:pt x="0" y="37031"/>
                    <a:pt x="5310" y="24212"/>
                    <a:pt x="14761" y="14761"/>
                  </a:cubicBezTo>
                  <a:cubicBezTo>
                    <a:pt x="24212" y="5310"/>
                    <a:pt x="37031" y="0"/>
                    <a:pt x="50397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395299" y="5122893"/>
            <a:ext cx="3798888" cy="2864668"/>
            <a:chOff x="0" y="0"/>
            <a:chExt cx="2803823" cy="211430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34645" y="0"/>
                  </a:moveTo>
                  <a:lnTo>
                    <a:pt x="2769178" y="0"/>
                  </a:lnTo>
                  <a:cubicBezTo>
                    <a:pt x="2778367" y="0"/>
                    <a:pt x="2787179" y="3650"/>
                    <a:pt x="2793676" y="10147"/>
                  </a:cubicBezTo>
                  <a:cubicBezTo>
                    <a:pt x="2800173" y="16645"/>
                    <a:pt x="2803823" y="25457"/>
                    <a:pt x="2803823" y="34645"/>
                  </a:cubicBezTo>
                  <a:lnTo>
                    <a:pt x="2803823" y="2079664"/>
                  </a:lnTo>
                  <a:cubicBezTo>
                    <a:pt x="2803823" y="2088852"/>
                    <a:pt x="2800173" y="2097664"/>
                    <a:pt x="2793676" y="2104161"/>
                  </a:cubicBezTo>
                  <a:cubicBezTo>
                    <a:pt x="2787179" y="2110659"/>
                    <a:pt x="2778367" y="2114309"/>
                    <a:pt x="2769178" y="2114309"/>
                  </a:cubicBezTo>
                  <a:lnTo>
                    <a:pt x="34645" y="2114309"/>
                  </a:lnTo>
                  <a:cubicBezTo>
                    <a:pt x="25457" y="2114309"/>
                    <a:pt x="16645" y="2110659"/>
                    <a:pt x="10147" y="2104161"/>
                  </a:cubicBezTo>
                  <a:cubicBezTo>
                    <a:pt x="3650" y="2097664"/>
                    <a:pt x="0" y="2088852"/>
                    <a:pt x="0" y="2079664"/>
                  </a:cubicBezTo>
                  <a:lnTo>
                    <a:pt x="0" y="34645"/>
                  </a:lnTo>
                  <a:cubicBezTo>
                    <a:pt x="0" y="25457"/>
                    <a:pt x="3650" y="16645"/>
                    <a:pt x="10147" y="10147"/>
                  </a:cubicBezTo>
                  <a:cubicBezTo>
                    <a:pt x="16645" y="3650"/>
                    <a:pt x="25457" y="0"/>
                    <a:pt x="3464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254" r="0" b="-525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6ta Fase: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6723" y="904875"/>
            <a:ext cx="15413088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MONITOREO Y ANÁLISIS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6723" y="2504769"/>
            <a:ext cx="13053333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 3. AJUSTES Y MEJORA DEL PROCESO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83495" y="3394999"/>
            <a:ext cx="4721009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Ajustes en formatos y mensajes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57005" y="3377854"/>
            <a:ext cx="4802295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Aplicación de mejoras continuas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3119" y="3476934"/>
            <a:ext cx="480213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Modificación del enfoque del contenido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información recopilada sirve como base para mejorar futuras publicaciones y campañas.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5921" y="3505509"/>
            <a:ext cx="5183795" cy="3801969"/>
            <a:chOff x="0" y="0"/>
            <a:chExt cx="2183951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37337" y="0"/>
                  </a:moveTo>
                  <a:lnTo>
                    <a:pt x="2146614" y="0"/>
                  </a:lnTo>
                  <a:cubicBezTo>
                    <a:pt x="2156516" y="0"/>
                    <a:pt x="2166013" y="3934"/>
                    <a:pt x="2173015" y="10936"/>
                  </a:cubicBezTo>
                  <a:cubicBezTo>
                    <a:pt x="2180017" y="17938"/>
                    <a:pt x="2183951" y="27435"/>
                    <a:pt x="2183951" y="37337"/>
                  </a:cubicBezTo>
                  <a:lnTo>
                    <a:pt x="2183951" y="1564446"/>
                  </a:lnTo>
                  <a:cubicBezTo>
                    <a:pt x="2183951" y="1585066"/>
                    <a:pt x="2167234" y="1601783"/>
                    <a:pt x="2146614" y="1601783"/>
                  </a:cubicBezTo>
                  <a:lnTo>
                    <a:pt x="37337" y="1601783"/>
                  </a:lnTo>
                  <a:cubicBezTo>
                    <a:pt x="16716" y="1601783"/>
                    <a:pt x="0" y="1585066"/>
                    <a:pt x="0" y="1564446"/>
                  </a:cubicBezTo>
                  <a:lnTo>
                    <a:pt x="0" y="37337"/>
                  </a:lnTo>
                  <a:cubicBezTo>
                    <a:pt x="0" y="16716"/>
                    <a:pt x="16716" y="0"/>
                    <a:pt x="37337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3791838"/>
            <a:ext cx="5127680" cy="3866684"/>
            <a:chOff x="0" y="0"/>
            <a:chExt cx="2803823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25667" y="0"/>
                  </a:moveTo>
                  <a:lnTo>
                    <a:pt x="2778156" y="0"/>
                  </a:lnTo>
                  <a:cubicBezTo>
                    <a:pt x="2784964" y="0"/>
                    <a:pt x="2791492" y="2704"/>
                    <a:pt x="2796306" y="7518"/>
                  </a:cubicBezTo>
                  <a:cubicBezTo>
                    <a:pt x="2801119" y="12331"/>
                    <a:pt x="2803823" y="18860"/>
                    <a:pt x="2803823" y="25667"/>
                  </a:cubicBezTo>
                  <a:lnTo>
                    <a:pt x="2803823" y="2088642"/>
                  </a:lnTo>
                  <a:cubicBezTo>
                    <a:pt x="2803823" y="2102817"/>
                    <a:pt x="2792332" y="2114309"/>
                    <a:pt x="2778156" y="2114309"/>
                  </a:cubicBezTo>
                  <a:lnTo>
                    <a:pt x="25667" y="2114309"/>
                  </a:lnTo>
                  <a:cubicBezTo>
                    <a:pt x="11492" y="2114309"/>
                    <a:pt x="0" y="2102817"/>
                    <a:pt x="0" y="2088642"/>
                  </a:cubicBezTo>
                  <a:lnTo>
                    <a:pt x="0" y="25667"/>
                  </a:lnTo>
                  <a:cubicBezTo>
                    <a:pt x="0" y="11492"/>
                    <a:pt x="11492" y="0"/>
                    <a:pt x="25667" y="0"/>
                  </a:cubicBezTo>
                  <a:close/>
                </a:path>
              </a:pathLst>
            </a:custGeom>
            <a:blipFill>
              <a:blip r:embed="rId4"/>
              <a:stretch>
                <a:fillRect l="-25408" t="0" r="-2540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7ma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1008418"/>
            <a:ext cx="15096435" cy="97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2"/>
              </a:lnSpc>
              <a:spcBef>
                <a:spcPct val="0"/>
              </a:spcBef>
            </a:pPr>
            <a:r>
              <a:rPr lang="en-US" sz="5673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COORDINACIÓN Y CONTROL DEL PROCESO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4769"/>
            <a:ext cx="13053333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1. COORDINACIÓN ENTRE ÁREAS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119" y="5076479"/>
            <a:ext cx="4721009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Coordinación con atención al cliente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3119" y="6874682"/>
            <a:ext cx="4802295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Alineación de información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3119" y="3476934"/>
            <a:ext cx="480213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Comunicación con ventas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coordinación interna permite asegurar la continuidad del proceso de atención al usuario.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5921" y="3505509"/>
            <a:ext cx="5183795" cy="3801969"/>
            <a:chOff x="0" y="0"/>
            <a:chExt cx="2183951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37337" y="0"/>
                  </a:moveTo>
                  <a:lnTo>
                    <a:pt x="2146614" y="0"/>
                  </a:lnTo>
                  <a:cubicBezTo>
                    <a:pt x="2156516" y="0"/>
                    <a:pt x="2166013" y="3934"/>
                    <a:pt x="2173015" y="10936"/>
                  </a:cubicBezTo>
                  <a:cubicBezTo>
                    <a:pt x="2180017" y="17938"/>
                    <a:pt x="2183951" y="27435"/>
                    <a:pt x="2183951" y="37337"/>
                  </a:cubicBezTo>
                  <a:lnTo>
                    <a:pt x="2183951" y="1564446"/>
                  </a:lnTo>
                  <a:cubicBezTo>
                    <a:pt x="2183951" y="1585066"/>
                    <a:pt x="2167234" y="1601783"/>
                    <a:pt x="2146614" y="1601783"/>
                  </a:cubicBezTo>
                  <a:lnTo>
                    <a:pt x="37337" y="1601783"/>
                  </a:lnTo>
                  <a:cubicBezTo>
                    <a:pt x="16716" y="1601783"/>
                    <a:pt x="0" y="1585066"/>
                    <a:pt x="0" y="1564446"/>
                  </a:cubicBezTo>
                  <a:lnTo>
                    <a:pt x="0" y="37337"/>
                  </a:lnTo>
                  <a:cubicBezTo>
                    <a:pt x="0" y="16716"/>
                    <a:pt x="16716" y="0"/>
                    <a:pt x="37337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3791838"/>
            <a:ext cx="5127680" cy="3866684"/>
            <a:chOff x="0" y="0"/>
            <a:chExt cx="2803823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25667" y="0"/>
                  </a:moveTo>
                  <a:lnTo>
                    <a:pt x="2778156" y="0"/>
                  </a:lnTo>
                  <a:cubicBezTo>
                    <a:pt x="2784964" y="0"/>
                    <a:pt x="2791492" y="2704"/>
                    <a:pt x="2796306" y="7518"/>
                  </a:cubicBezTo>
                  <a:cubicBezTo>
                    <a:pt x="2801119" y="12331"/>
                    <a:pt x="2803823" y="18860"/>
                    <a:pt x="2803823" y="25667"/>
                  </a:cubicBezTo>
                  <a:lnTo>
                    <a:pt x="2803823" y="2088642"/>
                  </a:lnTo>
                  <a:cubicBezTo>
                    <a:pt x="2803823" y="2102817"/>
                    <a:pt x="2792332" y="2114309"/>
                    <a:pt x="2778156" y="2114309"/>
                  </a:cubicBezTo>
                  <a:lnTo>
                    <a:pt x="25667" y="2114309"/>
                  </a:lnTo>
                  <a:cubicBezTo>
                    <a:pt x="11492" y="2114309"/>
                    <a:pt x="0" y="2102817"/>
                    <a:pt x="0" y="2088642"/>
                  </a:cubicBezTo>
                  <a:lnTo>
                    <a:pt x="0" y="25667"/>
                  </a:lnTo>
                  <a:cubicBezTo>
                    <a:pt x="0" y="11492"/>
                    <a:pt x="11492" y="0"/>
                    <a:pt x="25667" y="0"/>
                  </a:cubicBezTo>
                  <a:close/>
                </a:path>
              </a:pathLst>
            </a:custGeom>
            <a:blipFill>
              <a:blip r:embed="rId4"/>
              <a:stretch>
                <a:fillRect l="-28066" t="0" r="-2806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7ma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1008418"/>
            <a:ext cx="15096435" cy="97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2"/>
              </a:lnSpc>
              <a:spcBef>
                <a:spcPct val="0"/>
              </a:spcBef>
            </a:pPr>
            <a:r>
              <a:rPr lang="en-US" sz="5673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COORDINACIÓN Y CONTROL DEL PROCESO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4769"/>
            <a:ext cx="1006712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2. FLUJO DE INFORMACIÓN INTERNA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119" y="5076479"/>
            <a:ext cx="4721009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Registro de información básica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3119" y="6874682"/>
            <a:ext cx="4802295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Seguimiento interno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3119" y="3476934"/>
            <a:ext cx="480213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Transferencia de consultas relevantes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información generada en redes sociales es compartida con las áreas correspondientes.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8807" y="-5137202"/>
            <a:ext cx="21565310" cy="15976092"/>
            <a:chOff x="0" y="0"/>
            <a:chExt cx="28753747" cy="21301456"/>
          </a:xfrm>
        </p:grpSpPr>
        <p:grpSp>
          <p:nvGrpSpPr>
            <p:cNvPr name="Group 3" id="3"/>
            <p:cNvGrpSpPr/>
            <p:nvPr/>
          </p:nvGrpSpPr>
          <p:grpSpPr>
            <a:xfrm rot="5302603">
              <a:off x="2928871" y="7250998"/>
              <a:ext cx="13716000" cy="13994002"/>
              <a:chOff x="0" y="0"/>
              <a:chExt cx="2709333" cy="2764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09333" cy="2764247"/>
              </a:xfrm>
              <a:custGeom>
                <a:avLst/>
                <a:gdLst/>
                <a:ahLst/>
                <a:cxnLst/>
                <a:rect r="r" b="b" t="t" l="l"/>
                <a:pathLst>
                  <a:path h="2764247" w="2709333">
                    <a:moveTo>
                      <a:pt x="1354667" y="0"/>
                    </a:moveTo>
                    <a:lnTo>
                      <a:pt x="2709333" y="2764247"/>
                    </a:lnTo>
                    <a:lnTo>
                      <a:pt x="0" y="2764247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423333" y="1283401"/>
                <a:ext cx="1862667" cy="1283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302603">
              <a:off x="15700745" y="1022163"/>
              <a:ext cx="13716000" cy="12006280"/>
              <a:chOff x="0" y="0"/>
              <a:chExt cx="2709333" cy="237161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9333" cy="2371611"/>
              </a:xfrm>
              <a:custGeom>
                <a:avLst/>
                <a:gdLst/>
                <a:ahLst/>
                <a:cxnLst/>
                <a:rect r="r" b="b" t="t" l="l"/>
                <a:pathLst>
                  <a:path h="2371611" w="2709333">
                    <a:moveTo>
                      <a:pt x="1354667" y="0"/>
                    </a:moveTo>
                    <a:lnTo>
                      <a:pt x="2709333" y="2371611"/>
                    </a:lnTo>
                    <a:lnTo>
                      <a:pt x="0" y="2371611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423333" y="1101105"/>
                <a:ext cx="1862667" cy="1101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97396">
              <a:off x="1523133" y="-737655"/>
              <a:ext cx="13716000" cy="16380298"/>
              <a:chOff x="0" y="0"/>
              <a:chExt cx="2709333" cy="3235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09333" cy="3235614"/>
              </a:xfrm>
              <a:custGeom>
                <a:avLst/>
                <a:gdLst/>
                <a:ahLst/>
                <a:cxnLst/>
                <a:rect r="r" b="b" t="t" l="l"/>
                <a:pathLst>
                  <a:path h="3235614" w="2709333">
                    <a:moveTo>
                      <a:pt x="1354667" y="0"/>
                    </a:moveTo>
                    <a:lnTo>
                      <a:pt x="2709333" y="3235614"/>
                    </a:lnTo>
                    <a:lnTo>
                      <a:pt x="0" y="3235614"/>
                    </a:lnTo>
                    <a:lnTo>
                      <a:pt x="1354667" y="0"/>
                    </a:lnTo>
                    <a:close/>
                  </a:path>
                </a:pathLst>
              </a:custGeom>
              <a:solidFill>
                <a:srgbClr val="FFFCF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423333" y="1502250"/>
                <a:ext cx="1862667" cy="1502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97396">
              <a:off x="20911815" y="7439192"/>
              <a:ext cx="8215733" cy="7238304"/>
              <a:chOff x="0" y="0"/>
              <a:chExt cx="1622861" cy="14297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2861" cy="1429788"/>
              </a:xfrm>
              <a:custGeom>
                <a:avLst/>
                <a:gdLst/>
                <a:ahLst/>
                <a:cxnLst/>
                <a:rect r="r" b="b" t="t" l="l"/>
                <a:pathLst>
                  <a:path h="1429788" w="1622861">
                    <a:moveTo>
                      <a:pt x="811430" y="0"/>
                    </a:moveTo>
                    <a:lnTo>
                      <a:pt x="1622861" y="1429788"/>
                    </a:lnTo>
                    <a:lnTo>
                      <a:pt x="0" y="1429788"/>
                    </a:lnTo>
                    <a:lnTo>
                      <a:pt x="811430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53572" y="663830"/>
                <a:ext cx="1115717" cy="663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500734">
              <a:off x="3551820" y="12902335"/>
              <a:ext cx="8603599" cy="7541690"/>
              <a:chOff x="0" y="0"/>
              <a:chExt cx="830945" cy="7283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0945" cy="728385"/>
              </a:xfrm>
              <a:custGeom>
                <a:avLst/>
                <a:gdLst/>
                <a:ahLst/>
                <a:cxnLst/>
                <a:rect r="r" b="b" t="t" l="l"/>
                <a:pathLst>
                  <a:path h="728385" w="830945">
                    <a:moveTo>
                      <a:pt x="415473" y="0"/>
                    </a:moveTo>
                    <a:lnTo>
                      <a:pt x="830945" y="728385"/>
                    </a:lnTo>
                    <a:lnTo>
                      <a:pt x="0" y="728385"/>
                    </a:lnTo>
                    <a:lnTo>
                      <a:pt x="415473" y="0"/>
                    </a:lnTo>
                    <a:close/>
                  </a:path>
                </a:pathLst>
              </a:custGeom>
              <a:solidFill>
                <a:srgbClr val="F5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9835" y="338179"/>
                <a:ext cx="571275" cy="33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117804" y="-76892"/>
            <a:ext cx="18523609" cy="10363892"/>
            <a:chOff x="0" y="0"/>
            <a:chExt cx="24698145" cy="138185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90139" y="294421"/>
              <a:ext cx="24114022" cy="13229679"/>
              <a:chOff x="0" y="0"/>
              <a:chExt cx="6335095" cy="34756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5095" cy="3475624"/>
              </a:xfrm>
              <a:custGeom>
                <a:avLst/>
                <a:gdLst/>
                <a:ahLst/>
                <a:cxnLst/>
                <a:rect r="r" b="b" t="t" l="l"/>
                <a:pathLst>
                  <a:path h="3475624" w="6335095">
                    <a:moveTo>
                      <a:pt x="0" y="0"/>
                    </a:moveTo>
                    <a:lnTo>
                      <a:pt x="6335095" y="0"/>
                    </a:lnTo>
                    <a:lnTo>
                      <a:pt x="6335095" y="3475624"/>
                    </a:lnTo>
                    <a:lnTo>
                      <a:pt x="0" y="3475624"/>
                    </a:lnTo>
                    <a:close/>
                  </a:path>
                </a:pathLst>
              </a:custGeom>
              <a:ln w="76200" cap="sq">
                <a:solidFill>
                  <a:srgbClr val="F5873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5095" cy="3475624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4698145" cy="13818522"/>
              <a:chOff x="0" y="0"/>
              <a:chExt cx="6488553" cy="363032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88553" cy="3630322"/>
              </a:xfrm>
              <a:custGeom>
                <a:avLst/>
                <a:gdLst/>
                <a:ahLst/>
                <a:cxnLst/>
                <a:rect r="r" b="b" t="t" l="l"/>
                <a:pathLst>
                  <a:path h="3630322" w="6488553">
                    <a:moveTo>
                      <a:pt x="0" y="0"/>
                    </a:moveTo>
                    <a:lnTo>
                      <a:pt x="6488553" y="0"/>
                    </a:lnTo>
                    <a:lnTo>
                      <a:pt x="6488553" y="3630322"/>
                    </a:lnTo>
                    <a:lnTo>
                      <a:pt x="0" y="3630322"/>
                    </a:lnTo>
                    <a:close/>
                  </a:path>
                </a:pathLst>
              </a:custGeom>
              <a:ln w="190500" cap="sq">
                <a:solidFill>
                  <a:srgbClr val="20A9E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488553" cy="3630322"/>
              </a:xfrm>
              <a:prstGeom prst="rect">
                <a:avLst/>
              </a:prstGeom>
            </p:spPr>
            <p:txBody>
              <a:bodyPr anchor="ctr" rtlCol="false" tIns="51974" lIns="51974" bIns="51974" rIns="51974"/>
              <a:lstStyle/>
              <a:p>
                <a:pPr algn="ctr">
                  <a:lnSpc>
                    <a:spcPts val="181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6330853" y="449361"/>
            <a:ext cx="1614832" cy="1641130"/>
            <a:chOff x="0" y="0"/>
            <a:chExt cx="2153110" cy="21881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3110" cy="1537433"/>
            </a:xfrm>
            <a:custGeom>
              <a:avLst/>
              <a:gdLst/>
              <a:ahLst/>
              <a:cxnLst/>
              <a:rect r="r" b="b" t="t" l="l"/>
              <a:pathLst>
                <a:path h="1537433" w="2153110">
                  <a:moveTo>
                    <a:pt x="0" y="0"/>
                  </a:moveTo>
                  <a:lnTo>
                    <a:pt x="2153110" y="0"/>
                  </a:lnTo>
                  <a:lnTo>
                    <a:pt x="2153110" y="1537433"/>
                  </a:lnTo>
                  <a:lnTo>
                    <a:pt x="0" y="15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8083" y="1574345"/>
              <a:ext cx="1676943" cy="613828"/>
            </a:xfrm>
            <a:custGeom>
              <a:avLst/>
              <a:gdLst/>
              <a:ahLst/>
              <a:cxnLst/>
              <a:rect r="r" b="b" t="t" l="l"/>
              <a:pathLst>
                <a:path h="613828" w="1676943">
                  <a:moveTo>
                    <a:pt x="0" y="0"/>
                  </a:moveTo>
                  <a:lnTo>
                    <a:pt x="1676943" y="0"/>
                  </a:lnTo>
                  <a:lnTo>
                    <a:pt x="1676943" y="613829"/>
                  </a:lnTo>
                  <a:lnTo>
                    <a:pt x="0" y="61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00" t="-247419" r="-132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0116" y="8293276"/>
            <a:ext cx="9987768" cy="1402814"/>
            <a:chOff x="0" y="0"/>
            <a:chExt cx="2863412" cy="402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3412" cy="402175"/>
            </a:xfrm>
            <a:custGeom>
              <a:avLst/>
              <a:gdLst/>
              <a:ahLst/>
              <a:cxnLst/>
              <a:rect r="r" b="b" t="t" l="l"/>
              <a:pathLst>
                <a:path h="402175" w="2863412">
                  <a:moveTo>
                    <a:pt x="19379" y="0"/>
                  </a:moveTo>
                  <a:lnTo>
                    <a:pt x="2844033" y="0"/>
                  </a:lnTo>
                  <a:cubicBezTo>
                    <a:pt x="2854736" y="0"/>
                    <a:pt x="2863412" y="8676"/>
                    <a:pt x="2863412" y="19379"/>
                  </a:cubicBezTo>
                  <a:lnTo>
                    <a:pt x="2863412" y="382797"/>
                  </a:lnTo>
                  <a:cubicBezTo>
                    <a:pt x="2863412" y="393499"/>
                    <a:pt x="2854736" y="402175"/>
                    <a:pt x="2844033" y="402175"/>
                  </a:cubicBezTo>
                  <a:lnTo>
                    <a:pt x="19379" y="402175"/>
                  </a:lnTo>
                  <a:cubicBezTo>
                    <a:pt x="8676" y="402175"/>
                    <a:pt x="0" y="393499"/>
                    <a:pt x="0" y="382797"/>
                  </a:cubicBezTo>
                  <a:lnTo>
                    <a:pt x="0" y="19379"/>
                  </a:lnTo>
                  <a:cubicBezTo>
                    <a:pt x="0" y="8676"/>
                    <a:pt x="8676" y="0"/>
                    <a:pt x="19379" y="0"/>
                  </a:cubicBezTo>
                  <a:close/>
                </a:path>
              </a:pathLst>
            </a:custGeom>
            <a:solidFill>
              <a:srgbClr val="FFEEE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863412" cy="4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5921" y="3505509"/>
            <a:ext cx="5183795" cy="3801969"/>
            <a:chOff x="0" y="0"/>
            <a:chExt cx="2183951" cy="1601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951" cy="1601783"/>
            </a:xfrm>
            <a:custGeom>
              <a:avLst/>
              <a:gdLst/>
              <a:ahLst/>
              <a:cxnLst/>
              <a:rect r="r" b="b" t="t" l="l"/>
              <a:pathLst>
                <a:path h="1601783" w="2183951">
                  <a:moveTo>
                    <a:pt x="37337" y="0"/>
                  </a:moveTo>
                  <a:lnTo>
                    <a:pt x="2146614" y="0"/>
                  </a:lnTo>
                  <a:cubicBezTo>
                    <a:pt x="2156516" y="0"/>
                    <a:pt x="2166013" y="3934"/>
                    <a:pt x="2173015" y="10936"/>
                  </a:cubicBezTo>
                  <a:cubicBezTo>
                    <a:pt x="2180017" y="17938"/>
                    <a:pt x="2183951" y="27435"/>
                    <a:pt x="2183951" y="37337"/>
                  </a:cubicBezTo>
                  <a:lnTo>
                    <a:pt x="2183951" y="1564446"/>
                  </a:lnTo>
                  <a:cubicBezTo>
                    <a:pt x="2183951" y="1585066"/>
                    <a:pt x="2167234" y="1601783"/>
                    <a:pt x="2146614" y="1601783"/>
                  </a:cubicBezTo>
                  <a:lnTo>
                    <a:pt x="37337" y="1601783"/>
                  </a:lnTo>
                  <a:cubicBezTo>
                    <a:pt x="16716" y="1601783"/>
                    <a:pt x="0" y="1585066"/>
                    <a:pt x="0" y="1564446"/>
                  </a:cubicBezTo>
                  <a:lnTo>
                    <a:pt x="0" y="37337"/>
                  </a:lnTo>
                  <a:cubicBezTo>
                    <a:pt x="0" y="16716"/>
                    <a:pt x="16716" y="0"/>
                    <a:pt x="37337" y="0"/>
                  </a:cubicBezTo>
                  <a:close/>
                </a:path>
              </a:pathLst>
            </a:custGeom>
            <a:solidFill>
              <a:srgbClr val="6AD6F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83951" cy="163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47601" y="3720794"/>
            <a:ext cx="5127680" cy="3866684"/>
            <a:chOff x="0" y="0"/>
            <a:chExt cx="2803823" cy="2114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3823" cy="2114309"/>
            </a:xfrm>
            <a:custGeom>
              <a:avLst/>
              <a:gdLst/>
              <a:ahLst/>
              <a:cxnLst/>
              <a:rect r="r" b="b" t="t" l="l"/>
              <a:pathLst>
                <a:path h="2114309" w="2803823">
                  <a:moveTo>
                    <a:pt x="25667" y="0"/>
                  </a:moveTo>
                  <a:lnTo>
                    <a:pt x="2778156" y="0"/>
                  </a:lnTo>
                  <a:cubicBezTo>
                    <a:pt x="2784964" y="0"/>
                    <a:pt x="2791492" y="2704"/>
                    <a:pt x="2796306" y="7518"/>
                  </a:cubicBezTo>
                  <a:cubicBezTo>
                    <a:pt x="2801119" y="12331"/>
                    <a:pt x="2803823" y="18860"/>
                    <a:pt x="2803823" y="25667"/>
                  </a:cubicBezTo>
                  <a:lnTo>
                    <a:pt x="2803823" y="2088642"/>
                  </a:lnTo>
                  <a:cubicBezTo>
                    <a:pt x="2803823" y="2102817"/>
                    <a:pt x="2792332" y="2114309"/>
                    <a:pt x="2778156" y="2114309"/>
                  </a:cubicBezTo>
                  <a:lnTo>
                    <a:pt x="25667" y="2114309"/>
                  </a:lnTo>
                  <a:cubicBezTo>
                    <a:pt x="11492" y="2114309"/>
                    <a:pt x="0" y="2102817"/>
                    <a:pt x="0" y="2088642"/>
                  </a:cubicBezTo>
                  <a:lnTo>
                    <a:pt x="0" y="25667"/>
                  </a:lnTo>
                  <a:cubicBezTo>
                    <a:pt x="0" y="11492"/>
                    <a:pt x="11492" y="0"/>
                    <a:pt x="25667" y="0"/>
                  </a:cubicBezTo>
                  <a:close/>
                </a:path>
              </a:pathLst>
            </a:custGeom>
            <a:blipFill>
              <a:blip r:embed="rId4"/>
              <a:stretch>
                <a:fillRect l="-6591" t="0" r="-6591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69833" y="304397"/>
            <a:ext cx="20164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7ma Fase: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723" y="1008418"/>
            <a:ext cx="15096435" cy="97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2"/>
              </a:lnSpc>
              <a:spcBef>
                <a:spcPct val="0"/>
              </a:spcBef>
            </a:pPr>
            <a:r>
              <a:rPr lang="en-US" sz="5673">
                <a:solidFill>
                  <a:srgbClr val="31A0CE"/>
                </a:solidFill>
                <a:latin typeface="Sunborn"/>
                <a:ea typeface="Sunborn"/>
                <a:cs typeface="Sunborn"/>
                <a:sym typeface="Sunborn"/>
              </a:rPr>
              <a:t>COORDINACIÓN Y CONTROL DEL PROCESO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723" y="2504769"/>
            <a:ext cx="13053333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  <a:spcBef>
                <a:spcPct val="0"/>
              </a:spcBef>
            </a:pPr>
            <a:r>
              <a:rPr lang="en-US" b="true" sz="3999">
                <a:solidFill>
                  <a:srgbClr val="E87620"/>
                </a:solidFill>
                <a:latin typeface="Now Bold"/>
                <a:ea typeface="Now Bold"/>
                <a:cs typeface="Now Bold"/>
                <a:sym typeface="Now Bold"/>
              </a:rPr>
              <a:t>3. CONTROL Y SEGUIMIENTO DEL PROCESO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119" y="5076479"/>
            <a:ext cx="4721009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Verificación del cumplimiento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3119" y="6874682"/>
            <a:ext cx="4802295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Identificación de mejoras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3119" y="3476934"/>
            <a:ext cx="480213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Supervisión de actividades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08043" y="8572409"/>
            <a:ext cx="827191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control del proceso permite garantizar que las etapas se ejecuten según lo establecido.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DAG_6jFpi4M</dc:identifier>
  <dcterms:modified xsi:type="dcterms:W3CDTF">2011-08-01T06:04:30Z</dcterms:modified>
  <cp:revision>1</cp:revision>
  <dc:title>manual de marketing</dc:title>
</cp:coreProperties>
</file>